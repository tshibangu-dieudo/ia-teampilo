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1440" y="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231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Bonjour à toutes et à tous. Je suis Dieudo Tshibangu, étudiant en Informatique de Gestion à l'Université Lumière de Bujumbura.</a:t>
            </a:r>
          </a:p>
          <a:p>
            <a:endParaRPr/>
          </a:p>
          <a:p>
            <a:r>
              <a:t>Aujourd'hui, je suis honoré de vous présenter TeamPilot AI, une plateforme intelligente qui révolutionne la gestion d'équipe grâce à l'intelligence artificielle d'IBM Granite via watsonx.ai.</a:t>
            </a:r>
          </a:p>
          <a:p>
            <a:endParaRPr/>
          </a:p>
          <a:p>
            <a:r>
              <a:t>Notre slogan résume notre philosophie: "L'IA propose. L'humain décide."</a:t>
            </a:r>
          </a:p>
          <a:p>
            <a:endParaRPr/>
          </a:p>
          <a:p>
            <a:r>
              <a:t>TeamPilot AI n'est pas là pour remplacer les managers, mais pour les assister dans leurs décisions les plus critiques.</a:t>
            </a:r>
          </a:p>
          <a:p>
            <a:endParaRPr/>
          </a:p>
          <a:p>
            <a:r>
              <a:t>Ensemble, explorons comment l'IA peut transformer la gestion de projet en Afrique et dans le monde.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[50 secondes]</a:t>
            </a:r>
          </a:p>
          <a:p>
            <a:endParaRPr/>
          </a:p>
          <a:p>
            <a:r>
              <a:t>Permettez-moi de me présenter rapidement. Je suis étudiant en Informatique de Gestion à l'ULBU, ici au Burundi.</a:t>
            </a:r>
          </a:p>
          <a:p>
            <a:endParaRPr/>
          </a:p>
          <a:p>
            <a:r>
              <a:t>Ma passion pour l'intelligence artificielle est née d'un constat simple: en Afrique, nos équipes utilisent des outils classiques qui ne répondent plus aux défis modernes.</a:t>
            </a:r>
          </a:p>
          <a:p>
            <a:endParaRPr/>
          </a:p>
          <a:p>
            <a:r>
              <a:t>J'ai développé TeamPilot AI avec une mission claire: démocratiser l'intelligence artificielle pour la gestion d'équipe, en la rendant accessible, abordable et efficace pour les PME africaines et les équipes universitaires.</a:t>
            </a:r>
          </a:p>
          <a:p>
            <a:endParaRPr/>
          </a:p>
          <a:p>
            <a:r>
              <a:t>Ma vision est de faire de TeamPilot AI la référence africaine en matière de gestion intelligente d'équipe.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Parlons du problème réel. Les statistiques sont alarmantes: 70% des projets échouent, non pas à cause de la technologie, mais à cause de problèmes humains.</a:t>
            </a:r>
          </a:p>
          <a:p>
            <a:endParaRPr/>
          </a:p>
          <a:p>
            <a:r>
              <a:t>La surcharge de travail: un développeur qui gère 150% de sa capacité finit par craquer.</a:t>
            </a:r>
          </a:p>
          <a:p>
            <a:endParaRPr/>
          </a:p>
          <a:p>
            <a:r>
              <a:t>Les retards en cascade: une tâche bloquée qui retarde tout le projet.</a:t>
            </a:r>
          </a:p>
          <a:p>
            <a:endParaRPr/>
          </a:p>
          <a:p>
            <a:r>
              <a:t>Le manque de visibilité: le manager découvre le problème trop tard.</a:t>
            </a:r>
          </a:p>
          <a:p>
            <a:endParaRPr/>
          </a:p>
          <a:p>
            <a:r>
              <a:t>La mauvaise communication: les équipes ne parlent pas le même langage.</a:t>
            </a:r>
          </a:p>
          <a:p>
            <a:endParaRPr/>
          </a:p>
          <a:p>
            <a:r>
              <a:t>Les décisions tardives: quand le manager réalise qu'il y a un problème, il est déjà trop tard.</a:t>
            </a:r>
          </a:p>
          <a:p>
            <a:endParaRPr/>
          </a:p>
          <a:p>
            <a:r>
              <a:t>Et le pire? Les outils classiques comme Excel, Trello ou Jira ne détectent pas ces problèmes. Ils se contentent d'afficher des tâches, sans analyser la situation.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[50 secondes]</a:t>
            </a:r>
          </a:p>
          <a:p>
            <a:endParaRPr/>
          </a:p>
          <a:p>
            <a:r>
              <a:t>Pourquoi avons-nous besoin de l'intelligence artificielle ?</a:t>
            </a:r>
          </a:p>
          <a:p>
            <a:endParaRPr/>
          </a:p>
          <a:p>
            <a:r>
              <a:t>Les outils classiques sont réactifs. Vous découvrez le problème quand il est trop tard. L'IA est prédictive: elle anticipe les crises avant qu'elles n'arrivent.</a:t>
            </a:r>
          </a:p>
          <a:p>
            <a:endParaRPr/>
          </a:p>
          <a:p>
            <a:r>
              <a:t>Les outils classiques sont manuels. Vous devez tout calculer vous-même. L'IA automatise l'analyse: charges de travail, risques, dépendances.</a:t>
            </a:r>
          </a:p>
          <a:p>
            <a:endParaRPr/>
          </a:p>
          <a:p>
            <a:r>
              <a:t>Les outils classiques reposent sur des décisions subjectives. L'IA propose des décisions data-driven, basées sur des formules mathématiques et des règles métier validées.</a:t>
            </a:r>
          </a:p>
          <a:p>
            <a:endParaRPr/>
          </a:p>
          <a:p>
            <a:r>
              <a:t>Les outils classiques n'offrent aucune prévision. L'IA anticipe: "Dans 3 jours, ce projet sera en crise si vous ne redistribuez pas les tâches maintenant."</a:t>
            </a:r>
          </a:p>
          <a:p>
            <a:endParaRPr/>
          </a:p>
          <a:p>
            <a:r>
              <a:t>C'est ce changement de paradigme que TeamPilot AI apporte.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[50 secondes]</a:t>
            </a:r>
          </a:p>
          <a:p>
            <a:endParaRPr/>
          </a:p>
          <a:p>
            <a:r>
              <a:t>Voici l'architecture complète de TeamPilot AI.</a:t>
            </a:r>
          </a:p>
          <a:p>
            <a:endParaRPr/>
          </a:p>
          <a:p>
            <a:r>
              <a:t>En frontend, nous utilisons React avec Vite et Tailwind CSS pour une interface moderne et réactive.</a:t>
            </a:r>
          </a:p>
          <a:p>
            <a:endParaRPr/>
          </a:p>
          <a:p>
            <a:r>
              <a:t>Le backend repose sur Django REST Framework, un framework Python robuste et scalable, parfait pour les applications d'entreprise.</a:t>
            </a:r>
          </a:p>
          <a:p>
            <a:endParaRPr/>
          </a:p>
          <a:p>
            <a:r>
              <a:t>Les données sont stockées dans PostgreSQL, une base de données relationnelle performante et fiable.</a:t>
            </a:r>
          </a:p>
          <a:p>
            <a:endParaRPr/>
          </a:p>
          <a:p>
            <a:r>
              <a:t>Et au cœur du système: l'intelligence artificielle IBM Granite, accessible via watsonx.ai, intégrée avec LangChain.</a:t>
            </a:r>
          </a:p>
          <a:p>
            <a:endParaRPr/>
          </a:p>
          <a:p>
            <a:r>
              <a:t>Cette architecture garantit performance, sécurité et évolutivité.</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TeamPilot AI offre six fonctionnalités principales intégrées.</a:t>
            </a:r>
          </a:p>
          <a:p>
            <a:endParaRPr/>
          </a:p>
          <a:p>
            <a:r>
              <a:t>Gestion de projets: cycle de vie complet, deadlines, statuts, ownership.</a:t>
            </a:r>
          </a:p>
          <a:p>
            <a:endParaRPr/>
          </a:p>
          <a:p>
            <a:r>
              <a:t>Gestion d'équipes: compétences, capacités hebdomadaires, disponibilités.</a:t>
            </a:r>
          </a:p>
          <a:p>
            <a:endParaRPr/>
          </a:p>
          <a:p>
            <a:r>
              <a:t>Gestion de tâches: avec dépendances, priorités, assignations intelligentes.</a:t>
            </a:r>
          </a:p>
          <a:p>
            <a:endParaRPr/>
          </a:p>
          <a:p>
            <a:r>
              <a:t>Calcul de workload en temps réel: formule mathématique précise qui détecte la surcharge avant qu'elle ne devienne critique.</a:t>
            </a:r>
          </a:p>
          <a:p>
            <a:endParaRPr/>
          </a:p>
          <a:p>
            <a:r>
              <a:t>Score de risque composite: quatre facteurs pondérés analysés par l'IA pour un score de 0 à 100%.</a:t>
            </a:r>
          </a:p>
          <a:p>
            <a:endParaRPr/>
          </a:p>
          <a:p>
            <a:r>
              <a:t>Assistant conversationnel IBM Granite: posez des questions en langage naturel, obtenez des réponses contextuelles basées sur vos données réelles.</a:t>
            </a:r>
          </a:p>
          <a:p>
            <a:endParaRPr/>
          </a:p>
          <a:p>
            <a:r>
              <a:t>Toutes ces fonctionnalités communiquent entre elles pour offrir une vue d'ensemble intelligente.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[70 secondes]</a:t>
            </a:r>
          </a:p>
          <a:p>
            <a:endParaRPr/>
          </a:p>
          <a:p>
            <a:r>
              <a:t>Voici le cerveau de TeamPilot AI: notre architecture d'intelligence artificielle.</a:t>
            </a:r>
          </a:p>
          <a:p>
            <a:endParaRPr/>
          </a:p>
          <a:p>
            <a:r>
              <a:t>Étape 1: L'utilisateur pose une question, par exemple "Qui est surchargé dans mon équipe ?"</a:t>
            </a:r>
          </a:p>
          <a:p>
            <a:endParaRPr/>
          </a:p>
          <a:p>
            <a:r>
              <a:t>Étape 2: L'Intent Classifier, notre premier modèle IA, analyse l'intention. Est-ce une question sur les personnes, les tâches, les risques ?</a:t>
            </a:r>
          </a:p>
          <a:p>
            <a:endParaRPr/>
          </a:p>
          <a:p>
            <a:r>
              <a:t>Étape 3: Le Router dirige la requête vers la bonne chaîne LangChain. Nous avons trois chaînes spécialisées: recommandations, explications de risque, et chat général.</a:t>
            </a:r>
          </a:p>
          <a:p>
            <a:endParaRPr/>
          </a:p>
          <a:p>
            <a:r>
              <a:t>Étape 4: Le Data Snapshot collecte toutes les données contextuelles pertinentes: membres de l'équipe, workloads, tâches, compétences, tout ce dont l'IA a besoin pour répondre intelligemment.</a:t>
            </a:r>
          </a:p>
          <a:p>
            <a:endParaRPr/>
          </a:p>
          <a:p>
            <a:r>
              <a:t>Étape 5: IBM Granite génère la réponse. Pas une réponse générique, mais une réponse basée sur VOS données, VOTRE contexte, VOTRE projet.</a:t>
            </a:r>
          </a:p>
          <a:p>
            <a:endParaRPr/>
          </a:p>
          <a:p>
            <a:r>
              <a:t>Étape 6: Validation et sécurité. Nous vérifions que la réponse respecte les permissions, ne contient pas d'hallucinations, et est cohérente.</a:t>
            </a:r>
          </a:p>
          <a:p>
            <a:endParaRPr/>
          </a:p>
          <a:p>
            <a:r>
              <a:t>Cette architecture garantit des réponses précises, sécurisées et contextuelles.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Voyons un scénario réel que nous allons démontrer.</a:t>
            </a:r>
          </a:p>
          <a:p>
            <a:endParaRPr/>
          </a:p>
          <a:p>
            <a:r>
              <a:t>Situation: David, développeur sur le projet CRM, est surchargé à 127.5%. Le projet CRM lui-même affiche un risque CRITIQUE de 85.2%. Toutes les tâches sont bloquées. C'est la crise.</a:t>
            </a:r>
          </a:p>
          <a:p>
            <a:endParaRPr/>
          </a:p>
          <a:p>
            <a:r>
              <a:t>L'IA détecte automatiquement ce problème. Elle analyse toute l'équipe et découvre que Sarah, sur le projet Mobile, n'est chargée qu'à 32.5%. Sarah a les compétences nécessaires.</a:t>
            </a:r>
          </a:p>
          <a:p>
            <a:endParaRPr/>
          </a:p>
          <a:p>
            <a:r>
              <a:t>L'IA suggère: "Réassignez 2 tâches de David vers Sarah. Cela réduira la charge de David et équilibrera l'équipe."</a:t>
            </a:r>
          </a:p>
          <a:p>
            <a:endParaRPr/>
          </a:p>
          <a:p>
            <a:r>
              <a:t>Le manager, Alice, voit cette recommandation. Elle lit la justification générée par IBM Granite. Elle comprend le raisonnement. Elle décide: "Oui, je valide."</a:t>
            </a:r>
          </a:p>
          <a:p>
            <a:endParaRPr/>
          </a:p>
          <a:p>
            <a:r>
              <a:t>L'action est appliquée instantanément. Les tâches sont réassignées. David et Sarah reçoivent des notifications. Le risque diminue.</a:t>
            </a:r>
          </a:p>
          <a:p>
            <a:endParaRPr/>
          </a:p>
          <a:p>
            <a:r>
              <a:t>L'IA propose. Le manager décide. C'est notre philosophie.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Pourquoi avoir choisi IBM Granite via watsonx.ai plutôt qu'une autre solution ?</a:t>
            </a:r>
          </a:p>
          <a:p>
            <a:endParaRPr/>
          </a:p>
          <a:p>
            <a:r>
              <a:t>Quatre raisons principales.</a:t>
            </a:r>
          </a:p>
          <a:p>
            <a:endParaRPr/>
          </a:p>
          <a:p>
            <a:r>
              <a:t>Premièrement: la sécurité entreprise. IBM est un acteur de confiance depuis 100 ans. Les données de nos clients restent privées, conformes RGPD, jamais utilisées pour entraîner d'autres modèles.</a:t>
            </a:r>
          </a:p>
          <a:p>
            <a:endParaRPr/>
          </a:p>
          <a:p>
            <a:r>
              <a:t>Deuxièmement: pas de vendor lock-in. watsonx.ai supporte plusieurs modèles. Demain, si un meilleur modèle apparaît, nous pouvons switcher sans réécrire le code.</a:t>
            </a:r>
          </a:p>
          <a:p>
            <a:endParaRPr/>
          </a:p>
          <a:p>
            <a:r>
              <a:t>Troisièmement: la transparence. IBM Granite est entraîné sur des données d'entreprise ouvertes et documentées. Pas de boîte noire.</a:t>
            </a:r>
          </a:p>
          <a:p>
            <a:endParaRPr/>
          </a:p>
          <a:p>
            <a:r>
              <a:t>Quatrièmement: conçu pour le business. Granite comprend le langage métier, les KPIs, les processus d'entreprise.</a:t>
            </a:r>
          </a:p>
          <a:p>
            <a:endParaRPr/>
          </a:p>
          <a:p>
            <a:r>
              <a:t>Nous avons écarté OpenAI/ChatGPT: excellent pour le grand public, mais pas conçu pour les données sensibles d'entreprise.</a:t>
            </a:r>
          </a:p>
          <a:p>
            <a:endParaRPr/>
          </a:p>
          <a:p>
            <a:r>
              <a:t>Nous avons écarté les modèles locaux: trop lourds, trop coûteux à maintenir pour une startup.</a:t>
            </a:r>
          </a:p>
          <a:p>
            <a:endParaRPr/>
          </a:p>
          <a:p>
            <a:r>
              <a:t>IBM Granite est le meilleur compromis: performance, sécurité, coût raisonnable.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[50 secondes]</a:t>
            </a:r>
          </a:p>
          <a:p>
            <a:endParaRPr/>
          </a:p>
          <a:p>
            <a:r>
              <a:t>La sécurité est notre priorité absolue. Nous avons mis en place six niveaux de protection.</a:t>
            </a:r>
          </a:p>
          <a:p>
            <a:endParaRPr/>
          </a:p>
          <a:p>
            <a:r>
              <a:t>Premièrement: permissions granulaires. Chaque utilisateur ne voit que ce qu'il a le droit de voir. Un membre d'équipe ne peut pas accéder aux données d'une autre équipe.</a:t>
            </a:r>
          </a:p>
          <a:p>
            <a:endParaRPr/>
          </a:p>
          <a:p>
            <a:r>
              <a:t>Deuxièmement: validation des réponses IA. Toutes les sorties de Granite sont vérifiées avant d'être affichées à l'utilisateur.</a:t>
            </a:r>
          </a:p>
          <a:p>
            <a:endParaRPr/>
          </a:p>
          <a:p>
            <a:r>
              <a:t>Troisièmement: anti-hallucination. Si l'IA n'est pas disponible ou si elle produit une réponse douteuse, nous basculons automatiquement sur des templates déterministes.</a:t>
            </a:r>
          </a:p>
          <a:p>
            <a:endParaRPr/>
          </a:p>
          <a:p>
            <a:r>
              <a:t>Quatrièmement: audit trail complet. Chaque action est loggée: qui a fait quoi, quand, pourquoi.</a:t>
            </a:r>
          </a:p>
          <a:p>
            <a:endParaRPr/>
          </a:p>
          <a:p>
            <a:r>
              <a:t>Cinquièmement: chiffrement des données en transit et au repos. Vos données sont protégées à chaque étape.</a:t>
            </a:r>
          </a:p>
          <a:p>
            <a:endParaRPr/>
          </a:p>
          <a:p>
            <a:r>
              <a:t>Sixièmement: 222 tests automatisés qui s'exécutent à chaque modification du code, garantissant qu'aucune régression n'est introduite.</a:t>
            </a:r>
          </a:p>
          <a:p>
            <a:endParaRPr/>
          </a:p>
          <a:p>
            <a:r>
              <a:t>Avec TeamPilot AI, votre sécurité n'est pas négociable.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Comparons TeamPilot AI avec les leaders du marché.</a:t>
            </a:r>
          </a:p>
          <a:p>
            <a:endParaRPr/>
          </a:p>
          <a:p>
            <a:r>
              <a:t>Gestion des tâches: tous les outils le font. C'est la base.</a:t>
            </a:r>
          </a:p>
          <a:p>
            <a:endParaRPr/>
          </a:p>
          <a:p>
            <a:r>
              <a:t>Calcul du workload: Trello ne le fait pas. Asana et Jira le font partiellement.</a:t>
            </a:r>
          </a:p>
          <a:p>
            <a:endParaRPr/>
          </a:p>
          <a:p>
            <a:r>
              <a:t>Détection des risques: ni Trello ni Asana. Jira a des dashboards, mais pas d'analyse prédictive.</a:t>
            </a:r>
          </a:p>
          <a:p>
            <a:endParaRPr/>
          </a:p>
          <a:p>
            <a:r>
              <a:t>IA prédictive: aucun d'entre eux. TeamPilot AI est le seul à anticiper les crises avant qu'elles n'arrivent.</a:t>
            </a:r>
          </a:p>
          <a:p>
            <a:endParaRPr/>
          </a:p>
          <a:p>
            <a:r>
              <a:t>Assistant IA conversationnel: TeamPilot AI uniquement. Vous pouvez littéralement demander "Qui est disponible pour m'aider sur ce projet ?" et obtenir une réponse contextuelle basée sur vos données réelles.</a:t>
            </a:r>
          </a:p>
          <a:p>
            <a:endParaRPr/>
          </a:p>
          <a:p>
            <a:r>
              <a:t>Notre innovation n'est pas d'ajouter de l'IA pour le buzz. Notre innovation est d'utiliser l'IA là où elle apporte une vraie valeur: prédire, anticiper, assister.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Qui peut bénéficier de TeamPilot AI ?</a:t>
            </a:r>
          </a:p>
          <a:p>
            <a:endParaRPr/>
          </a:p>
          <a:p>
            <a:r>
              <a:t>Premièrement: les entreprises. Surtout les PME africaines qui n'ont pas les moyens d'embaucher des consultants en gestion de projet. TeamPilot AI leur donne accès à une intelligence artificielle de niveau entreprise à un coût abordable.</a:t>
            </a:r>
          </a:p>
          <a:p>
            <a:endParaRPr/>
          </a:p>
          <a:p>
            <a:r>
              <a:t>Deuxièmement: les universités. Les projets étudiants échouent souvent par manque de coordination. TeamPilot AI peut transformer la façon dont les étudiants collaborent sur des projets de recherche ou des travaux de groupe.</a:t>
            </a:r>
          </a:p>
          <a:p>
            <a:endParaRPr/>
          </a:p>
          <a:p>
            <a:r>
              <a:t>Troisièmement: les startups. Elles ont des ressources limitées, des équipes agiles, et des deadlines serrées. TeamPilot AI leur permet de rester organisés sans embaucher un Project Manager à temps plein.</a:t>
            </a:r>
          </a:p>
          <a:p>
            <a:endParaRPr/>
          </a:p>
          <a:p>
            <a:r>
              <a:t>Ma vision est plus large: faire de l'Afrique un leader de l'IA appliquée à la gestion. Nous avons les talents. Nous avons les problèmes à résoudre. Il nous manquait les outils. TeamPilot AI comble ce vide.</a:t>
            </a:r>
          </a:p>
          <a:p>
            <a:endParaRPr/>
          </a:p>
          <a:p>
            <a:r>
              <a:t>Nos objectifs d'impact: réduire les retards de 30%, augmenter la productivité de 40%, réduire le burnout de 50%.</a:t>
            </a:r>
          </a:p>
          <a:p>
            <a:endParaRPr/>
          </a:p>
          <a:p>
            <a:r>
              <a:t>C'est ambitieux. Mais c'est réalisable.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[60 secondes]</a:t>
            </a:r>
          </a:p>
          <a:p>
            <a:endParaRPr/>
          </a:p>
          <a:p>
            <a:r>
              <a:t>Parlons de notre roadmap.</a:t>
            </a:r>
          </a:p>
          <a:p>
            <a:endParaRPr/>
          </a:p>
          <a:p>
            <a:r>
              <a:t>Aujourd'hui, nous avons un MVP complet et fonctionnel. Gestion de projets, équipes, tâches. Calcul de workload en temps réel avec formules mathématiques précises. Score de risque composite pondéré. Recommandations générées par IBM Granite avec justifications. Assistant conversationnel qui comprend le contexte de vos projets. Et 222 tests automatisés qui garantissent la stabilité.</a:t>
            </a:r>
          </a:p>
          <a:p>
            <a:endParaRPr/>
          </a:p>
          <a:p>
            <a:r>
              <a:t>Ce MVP est prêt pour une utilisation en production.</a:t>
            </a:r>
          </a:p>
          <a:p>
            <a:endParaRPr/>
          </a:p>
          <a:p>
            <a:r>
              <a:t>Mais nous voyons plus loin. Pour Q3-Q4 2026, nous prévoyons:</a:t>
            </a:r>
          </a:p>
          <a:p>
            <a:endParaRPr/>
          </a:p>
          <a:p>
            <a:r>
              <a:t>Application mobile native pour iOS et Android, pour que les managers puissent gérer leurs équipes en déplacement.</a:t>
            </a:r>
          </a:p>
          <a:p>
            <a:endParaRPr/>
          </a:p>
          <a:p>
            <a:r>
              <a:t>Analytics avancées avec machine learning pour identifier des patterns dans vos projets.</a:t>
            </a:r>
          </a:p>
          <a:p>
            <a:endParaRPr/>
          </a:p>
          <a:p>
            <a:r>
              <a:t>Prédiction de vélocité: l'IA prédit combien de story points votre équipe pourra compléter au prochain sprint.</a:t>
            </a:r>
          </a:p>
          <a:p>
            <a:endParaRPr/>
          </a:p>
          <a:p>
            <a:r>
              <a:t>Support multilingue complet: français, anglais, swahili, kirundi, pour une adoption maximale en Afrique.</a:t>
            </a:r>
          </a:p>
          <a:p>
            <a:endParaRPr/>
          </a:p>
          <a:p>
            <a:r>
              <a:t>Intégrations avec Slack, Teams, GitHub, pour s'insérer dans vos workflows existants.</a:t>
            </a:r>
          </a:p>
          <a:p>
            <a:endParaRPr/>
          </a:p>
          <a:p>
            <a:r>
              <a:t>Et la fonctionnalité la plus ambitieuse: auto-réassignation intelligente. L'IA propose ET applique automatiquement les réassignations si vous l'autorisez.</a:t>
            </a:r>
          </a:p>
          <a:p>
            <a:endParaRPr/>
          </a:p>
          <a:p>
            <a:r>
              <a:t>C'est notre vision pour les 12 prochains mois.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[180 secondes - Démonstration pratique]</a:t>
            </a:r>
          </a:p>
          <a:p>
            <a:endParaRPr/>
          </a:p>
          <a:p>
            <a:r>
              <a:t>Maintenant, le moment que vous attendiez: la démonstration live.</a:t>
            </a:r>
          </a:p>
          <a:p>
            <a:endParaRPr/>
          </a:p>
          <a:p>
            <a:r>
              <a:t>[Ouvrir le navigateur]</a:t>
            </a:r>
          </a:p>
          <a:p>
            <a:endParaRPr/>
          </a:p>
          <a:p>
            <a:r>
              <a:t>Je vais me connecter en tant que Project Manager Alice. Voici le dashboard.</a:t>
            </a:r>
          </a:p>
          <a:p>
            <a:endParaRPr/>
          </a:p>
          <a:p>
            <a:r>
              <a:t>[Montrer le dashboard]</a:t>
            </a:r>
          </a:p>
          <a:p>
            <a:endParaRPr/>
          </a:p>
          <a:p>
            <a:r>
              <a:t>Vous voyez ici le projet CRM Platform Rewrite. Le score de risque est affiché en rouge: 85.2%, niveau CRITIQUE. C'est l'alerte maximale.</a:t>
            </a:r>
          </a:p>
          <a:p>
            <a:endParaRPr/>
          </a:p>
          <a:p>
            <a:r>
              <a:t>[Cliquer sur le projet]</a:t>
            </a:r>
          </a:p>
          <a:p>
            <a:endParaRPr/>
          </a:p>
          <a:p>
            <a:r>
              <a:t>Entrons dans les détails. Vous voyez David Chen, notre développeur principal. Sa barre de workload est rouge: 127.5%, critically overloaded. Il a deux tâches critiques bloquées depuis plusieurs jours.</a:t>
            </a:r>
          </a:p>
          <a:p>
            <a:endParaRPr/>
          </a:p>
          <a:p>
            <a:r>
              <a:t>[Cliquer sur Recommandations]</a:t>
            </a:r>
          </a:p>
          <a:p>
            <a:endParaRPr/>
          </a:p>
          <a:p>
            <a:r>
              <a:t>L'IA a détecté ce problème. Regardez: elle propose de réassigner une tâche de David vers Sarah Kim, qui n'est chargée qu'à 32.5%.</a:t>
            </a:r>
          </a:p>
          <a:p>
            <a:endParaRPr/>
          </a:p>
          <a:p>
            <a:r>
              <a:t>[Lire la justification]</a:t>
            </a:r>
          </a:p>
          <a:p>
            <a:endParaRPr/>
          </a:p>
          <a:p>
            <a:r>
              <a:t>La justification générée par IBM Granite explique pourquoi: Sarah a les compétences React nécessaires, elle est sous-utilisée, et cette réassignation réduirait le risque du projet de 15 points.</a:t>
            </a:r>
          </a:p>
          <a:p>
            <a:endParaRPr/>
          </a:p>
          <a:p>
            <a:r>
              <a:t>[Accepter la recommandation]</a:t>
            </a:r>
          </a:p>
          <a:p>
            <a:endParaRPr/>
          </a:p>
          <a:p>
            <a:r>
              <a:t>Je clique sur "Accepter". En une seconde, la tâche est réassignée. David et Sarah reçoivent des notifications.</a:t>
            </a:r>
          </a:p>
          <a:p>
            <a:endParaRPr/>
          </a:p>
          <a:p>
            <a:r>
              <a:t>[Montrer le chat]</a:t>
            </a:r>
          </a:p>
          <a:p>
            <a:endParaRPr/>
          </a:p>
          <a:p>
            <a:r>
              <a:t>Maintenant, utilisons l'assistant IA. Je tape: "Qui est surchargé dans mon équipe ?"</a:t>
            </a:r>
          </a:p>
          <a:p>
            <a:endParaRPr/>
          </a:p>
          <a:p>
            <a:r>
              <a:t>[Attendre la réponse]</a:t>
            </a:r>
          </a:p>
          <a:p>
            <a:endParaRPr/>
          </a:p>
          <a:p>
            <a:r>
              <a:t>Granite analyse toutes mes données et répond: "David Chen est critically overloaded à 127.5%. Alice est à 110%, Marie à 110%, Lucas à 100%."</a:t>
            </a:r>
          </a:p>
          <a:p>
            <a:endParaRPr/>
          </a:p>
          <a:p>
            <a:r>
              <a:t>C'est une réponse basée sur MES données, en temps réel.</a:t>
            </a:r>
          </a:p>
          <a:p>
            <a:endParaRPr/>
          </a:p>
          <a:p>
            <a:r>
              <a:t>[Retour au dashboard]</a:t>
            </a:r>
          </a:p>
          <a:p>
            <a:endParaRPr/>
          </a:p>
          <a:p>
            <a:r>
              <a:t>Et vous voyez, le workload de David a déjà baissé. Le système a recalculé automatiquement.</a:t>
            </a:r>
          </a:p>
          <a:p>
            <a:endParaRPr/>
          </a:p>
          <a:p>
            <a:r>
              <a:t>Voilà TeamPilot AI en action. Des questions sur ce que vous venez de voir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[50 secondes]</a:t>
            </a:r>
          </a:p>
          <a:p>
            <a:endParaRPr/>
          </a:p>
          <a:p>
            <a:r>
              <a:t>Pour conclure.</a:t>
            </a:r>
          </a:p>
          <a:p>
            <a:endParaRPr/>
          </a:p>
          <a:p>
            <a:r>
              <a:t>TeamPilot AI, c'est trois choses essentielles:</a:t>
            </a:r>
          </a:p>
          <a:p>
            <a:endParaRPr/>
          </a:p>
          <a:p>
            <a:r>
              <a:t>Premièrement: la détection prédictive. Nous n'attendons pas que la crise arrive. Nous l'anticipons et vous donnons les outils pour l'éviter.</a:t>
            </a:r>
          </a:p>
          <a:p>
            <a:endParaRPr/>
          </a:p>
          <a:p>
            <a:r>
              <a:t>Deuxièmement: IBM Granite pour des décisions data-driven. Pas de feeling, pas d'intuition. Des données, des formules, des recommandations justifiées.</a:t>
            </a:r>
          </a:p>
          <a:p>
            <a:endParaRPr/>
          </a:p>
          <a:p>
            <a:r>
              <a:t>Troisièmement: conçu pour l'Afrique, utilisable partout. Nous comprenons les défis spécifiques des PME africaines, mais notre solution est universelle.</a:t>
            </a:r>
          </a:p>
          <a:p>
            <a:endParaRPr/>
          </a:p>
          <a:p>
            <a:r>
              <a:t>Notre slogan résume tout: "L'IA propose. L'humain décide."</a:t>
            </a:r>
          </a:p>
          <a:p>
            <a:endParaRPr/>
          </a:p>
          <a:p>
            <a:r>
              <a:t>TeamPilot AI n'est pas là pour remplacer le manager. Il est là pour donner au manager les super-pouvoirs dont il a besoin pour réussir.</a:t>
            </a:r>
          </a:p>
          <a:p>
            <a:endParaRPr/>
          </a:p>
          <a:p>
            <a:r>
              <a:t>Je remercie l'Université Lumière de Bujumbura pour cette opportunité, et je remercie chacun d'entre vous pour votre attention.</a:t>
            </a:r>
          </a:p>
          <a:p>
            <a:endParaRPr/>
          </a:p>
          <a:p>
            <a:r>
              <a:t>Je suis maintenant prêt à répondre à toutes vos questions.</a:t>
            </a:r>
          </a:p>
          <a:p>
            <a:endParaRPr/>
          </a:p>
          <a:p>
            <a:r>
              <a:t>Merci.</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7432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7315200" cy="914400"/>
          </a:xfrm>
          <a:prstGeom prst="rect">
            <a:avLst/>
          </a:prstGeom>
          <a:noFill/>
        </p:spPr>
        <p:txBody>
          <a:bodyPr wrap="square">
            <a:spAutoFit/>
          </a:bodyPr>
          <a:lstStyle/>
          <a:p>
            <a:pPr algn="ctr">
              <a:defRPr sz="6000" b="1">
                <a:solidFill>
                  <a:srgbClr val="FFFFFF"/>
                </a:solidFill>
              </a:defRPr>
            </a:pPr>
            <a:r>
              <a:t>TeamPilot AI</a:t>
            </a:r>
          </a:p>
        </p:txBody>
      </p:sp>
      <p:sp>
        <p:nvSpPr>
          <p:cNvPr id="4" name="TextBox 3"/>
          <p:cNvSpPr txBox="1"/>
          <p:nvPr/>
        </p:nvSpPr>
        <p:spPr>
          <a:xfrm>
            <a:off x="914400" y="1463040"/>
            <a:ext cx="7315200" cy="548640"/>
          </a:xfrm>
          <a:prstGeom prst="rect">
            <a:avLst/>
          </a:prstGeom>
          <a:noFill/>
        </p:spPr>
        <p:txBody>
          <a:bodyPr wrap="square">
            <a:spAutoFit/>
          </a:bodyPr>
          <a:lstStyle/>
          <a:p>
            <a:pPr algn="ctr">
              <a:defRPr sz="2400" b="0">
                <a:solidFill>
                  <a:srgbClr val="FFFFFF"/>
                </a:solidFill>
              </a:defRPr>
            </a:pPr>
            <a:r>
              <a:t>Intelligence Artificielle pour la Gestion d'Équipe</a:t>
            </a:r>
          </a:p>
        </p:txBody>
      </p:sp>
      <p:sp>
        <p:nvSpPr>
          <p:cNvPr id="5" name="TextBox 4"/>
          <p:cNvSpPr txBox="1"/>
          <p:nvPr/>
        </p:nvSpPr>
        <p:spPr>
          <a:xfrm>
            <a:off x="914400" y="3200400"/>
            <a:ext cx="7315200" cy="731520"/>
          </a:xfrm>
          <a:prstGeom prst="rect">
            <a:avLst/>
          </a:prstGeom>
          <a:noFill/>
        </p:spPr>
        <p:txBody>
          <a:bodyPr wrap="square">
            <a:spAutoFit/>
          </a:bodyPr>
          <a:lstStyle/>
          <a:p>
            <a:pPr algn="ctr">
              <a:defRPr sz="2800" b="1">
                <a:solidFill>
                  <a:srgbClr val="0F62FE"/>
                </a:solidFill>
              </a:defRPr>
            </a:pPr>
            <a:r>
              <a:t>"The AI proposes. The human decides."</a:t>
            </a:r>
          </a:p>
        </p:txBody>
      </p:sp>
      <p:sp>
        <p:nvSpPr>
          <p:cNvPr id="6" name="TextBox 5"/>
          <p:cNvSpPr txBox="1"/>
          <p:nvPr/>
        </p:nvSpPr>
        <p:spPr>
          <a:xfrm>
            <a:off x="914400" y="4389120"/>
            <a:ext cx="7315200" cy="365760"/>
          </a:xfrm>
          <a:prstGeom prst="rect">
            <a:avLst/>
          </a:prstGeom>
          <a:noFill/>
        </p:spPr>
        <p:txBody>
          <a:bodyPr wrap="square">
            <a:spAutoFit/>
          </a:bodyPr>
          <a:lstStyle/>
          <a:p>
            <a:pPr algn="ctr">
              <a:defRPr sz="2000" b="1">
                <a:solidFill>
                  <a:srgbClr val="0043CE"/>
                </a:solidFill>
              </a:defRPr>
            </a:pPr>
            <a:r>
              <a:t>AI FOR BUSINESS 2026</a:t>
            </a:r>
          </a:p>
        </p:txBody>
      </p:sp>
      <p:sp>
        <p:nvSpPr>
          <p:cNvPr id="7" name="TextBox 6"/>
          <p:cNvSpPr txBox="1"/>
          <p:nvPr/>
        </p:nvSpPr>
        <p:spPr>
          <a:xfrm>
            <a:off x="914400" y="4754880"/>
            <a:ext cx="7315200" cy="365760"/>
          </a:xfrm>
          <a:prstGeom prst="rect">
            <a:avLst/>
          </a:prstGeom>
          <a:noFill/>
        </p:spPr>
        <p:txBody>
          <a:bodyPr wrap="square">
            <a:spAutoFit/>
          </a:bodyPr>
          <a:lstStyle/>
          <a:p>
            <a:pPr algn="ctr">
              <a:defRPr sz="1800" b="0">
                <a:solidFill>
                  <a:srgbClr val="525F6B"/>
                </a:solidFill>
              </a:defRPr>
            </a:pPr>
            <a:r>
              <a:t>Université Lumière de Bujumbura (ULBU)</a:t>
            </a:r>
          </a:p>
        </p:txBody>
      </p:sp>
      <p:sp>
        <p:nvSpPr>
          <p:cNvPr id="8" name="TextBox 7"/>
          <p:cNvSpPr txBox="1"/>
          <p:nvPr/>
        </p:nvSpPr>
        <p:spPr>
          <a:xfrm>
            <a:off x="914400" y="5669280"/>
            <a:ext cx="7315200" cy="274320"/>
          </a:xfrm>
          <a:prstGeom prst="rect">
            <a:avLst/>
          </a:prstGeom>
          <a:noFill/>
        </p:spPr>
        <p:txBody>
          <a:bodyPr wrap="square">
            <a:spAutoFit/>
          </a:bodyPr>
          <a:lstStyle/>
          <a:p>
            <a:pPr algn="ctr">
              <a:defRPr sz="1600" b="0">
                <a:solidFill>
                  <a:srgbClr val="525F6B"/>
                </a:solidFill>
              </a:defRPr>
            </a:pPr>
            <a:r>
              <a:t>Dieudo Tshibangu | Étudiant en Informatique de Gestion</a:t>
            </a:r>
          </a:p>
        </p:txBody>
      </p:sp>
      <p:sp>
        <p:nvSpPr>
          <p:cNvPr id="9" name="TextBox 8"/>
          <p:cNvSpPr txBox="1"/>
          <p:nvPr/>
        </p:nvSpPr>
        <p:spPr>
          <a:xfrm>
            <a:off x="914400" y="6126480"/>
            <a:ext cx="7315200" cy="274320"/>
          </a:xfrm>
          <a:prstGeom prst="rect">
            <a:avLst/>
          </a:prstGeom>
          <a:noFill/>
        </p:spPr>
        <p:txBody>
          <a:bodyPr wrap="square">
            <a:spAutoFit/>
          </a:bodyPr>
          <a:lstStyle/>
          <a:p>
            <a:pPr algn="ctr">
              <a:defRPr sz="1400" b="0">
                <a:solidFill>
                  <a:srgbClr val="D2D5D8"/>
                </a:solidFill>
              </a:defRPr>
            </a:pPr>
            <a:r>
              <a:t>IBM Granite • watsonx.ai • LangChain • Django • React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Qui suis-je ?</a:t>
            </a:r>
          </a:p>
        </p:txBody>
      </p:sp>
      <p:sp>
        <p:nvSpPr>
          <p:cNvPr id="3" name="Rounded Rectangle 2"/>
          <p:cNvSpPr/>
          <p:nvPr/>
        </p:nvSpPr>
        <p:spPr>
          <a:xfrm>
            <a:off x="914400" y="1828800"/>
            <a:ext cx="3200400" cy="91440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 Étudiant</a:t>
            </a:r>
            <a:br/>
            <a:r>
              <a:t>Informatique de Gestion</a:t>
            </a:r>
          </a:p>
        </p:txBody>
      </p:sp>
      <p:sp>
        <p:nvSpPr>
          <p:cNvPr id="4" name="Rounded Rectangle 3"/>
          <p:cNvSpPr/>
          <p:nvPr/>
        </p:nvSpPr>
        <p:spPr>
          <a:xfrm>
            <a:off x="5029200" y="1828800"/>
            <a:ext cx="3200400" cy="914400"/>
          </a:xfrm>
          <a:prstGeom prst="roundRect">
            <a:avLst/>
          </a:prstGeom>
          <a:solidFill>
            <a:srgbClr val="0043CE"/>
          </a:solidFill>
          <a:ln>
            <a:solidFill>
              <a:srgbClr val="0043C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 Burundi</a:t>
            </a:r>
            <a:br/>
            <a:r>
              <a:t>ULBU</a:t>
            </a:r>
          </a:p>
        </p:txBody>
      </p:sp>
      <p:sp>
        <p:nvSpPr>
          <p:cNvPr id="5" name="TextBox 4"/>
          <p:cNvSpPr txBox="1"/>
          <p:nvPr/>
        </p:nvSpPr>
        <p:spPr>
          <a:xfrm>
            <a:off x="1371600" y="3200400"/>
            <a:ext cx="6400800" cy="2743200"/>
          </a:xfrm>
          <a:prstGeom prst="rect">
            <a:avLst/>
          </a:prstGeom>
          <a:noFill/>
        </p:spPr>
        <p:txBody>
          <a:bodyPr wrap="square">
            <a:spAutoFit/>
          </a:bodyPr>
          <a:lstStyle/>
          <a:p>
            <a:pPr>
              <a:spcAft>
                <a:spcPts val="1200"/>
              </a:spcAft>
              <a:defRPr sz="2200">
                <a:solidFill>
                  <a:srgbClr val="525F6B"/>
                </a:solidFill>
              </a:defRPr>
            </a:pPr>
            <a:r>
              <a:t>Passionné par l'IA et la gestion de projet</a:t>
            </a:r>
          </a:p>
          <a:p>
            <a:pPr>
              <a:spcAft>
                <a:spcPts val="1200"/>
              </a:spcAft>
              <a:defRPr sz="2200">
                <a:solidFill>
                  <a:srgbClr val="525F6B"/>
                </a:solidFill>
              </a:defRPr>
            </a:pPr>
            <a:r>
              <a:t>Constat: Les équipes africaines manquent d'outils intelligents</a:t>
            </a:r>
          </a:p>
          <a:p>
            <a:pPr>
              <a:spcAft>
                <a:spcPts val="1200"/>
              </a:spcAft>
              <a:defRPr sz="2200">
                <a:solidFill>
                  <a:srgbClr val="525F6B"/>
                </a:solidFill>
              </a:defRPr>
            </a:pPr>
            <a:r>
              <a:t>Mission: Démocratiser l'IA pour la gestion d'équipe</a:t>
            </a:r>
          </a:p>
          <a:p>
            <a:pPr>
              <a:spcAft>
                <a:spcPts val="1200"/>
              </a:spcAft>
              <a:defRPr sz="2200">
                <a:solidFill>
                  <a:srgbClr val="525F6B"/>
                </a:solidFill>
              </a:defRPr>
            </a:pPr>
            <a:r>
              <a:t>Vision: Faire de TeamPilot AI la référence africaine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Le Problème: Pourquoi les équipes échouent</a:t>
            </a:r>
          </a:p>
        </p:txBody>
      </p:sp>
      <p:sp>
        <p:nvSpPr>
          <p:cNvPr id="3" name="TextBox 2"/>
          <p:cNvSpPr txBox="1"/>
          <p:nvPr/>
        </p:nvSpPr>
        <p:spPr>
          <a:xfrm>
            <a:off x="914400" y="1371600"/>
            <a:ext cx="7315200" cy="457200"/>
          </a:xfrm>
          <a:prstGeom prst="rect">
            <a:avLst/>
          </a:prstGeom>
          <a:noFill/>
        </p:spPr>
        <p:txBody>
          <a:bodyPr wrap="square">
            <a:spAutoFit/>
          </a:bodyPr>
          <a:lstStyle/>
          <a:p>
            <a:pPr algn="ctr">
              <a:defRPr sz="2400" b="1">
                <a:solidFill>
                  <a:srgbClr val="0F62FE"/>
                </a:solidFill>
              </a:defRPr>
            </a:pPr>
            <a:r>
              <a:t>70% des projets échouent à cause de problèmes humains</a:t>
            </a:r>
          </a:p>
        </p:txBody>
      </p:sp>
      <p:sp>
        <p:nvSpPr>
          <p:cNvPr id="4" name="Rounded Rectangle 3"/>
          <p:cNvSpPr/>
          <p:nvPr/>
        </p:nvSpPr>
        <p:spPr>
          <a:xfrm>
            <a:off x="2286000" y="2560320"/>
            <a:ext cx="1645920" cy="73152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Surcharge</a:t>
            </a:r>
          </a:p>
        </p:txBody>
      </p:sp>
      <p:sp>
        <p:nvSpPr>
          <p:cNvPr id="5" name="Rounded Rectangle 4"/>
          <p:cNvSpPr/>
          <p:nvPr/>
        </p:nvSpPr>
        <p:spPr>
          <a:xfrm>
            <a:off x="3200400" y="2560320"/>
            <a:ext cx="1645920" cy="73152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Retards</a:t>
            </a:r>
          </a:p>
        </p:txBody>
      </p:sp>
      <p:sp>
        <p:nvSpPr>
          <p:cNvPr id="6" name="Rounded Rectangle 5"/>
          <p:cNvSpPr/>
          <p:nvPr/>
        </p:nvSpPr>
        <p:spPr>
          <a:xfrm>
            <a:off x="4114800" y="2560320"/>
            <a:ext cx="1645920" cy="73152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Blocages</a:t>
            </a:r>
          </a:p>
        </p:txBody>
      </p:sp>
      <p:sp>
        <p:nvSpPr>
          <p:cNvPr id="7" name="Rounded Rectangle 6"/>
          <p:cNvSpPr/>
          <p:nvPr/>
        </p:nvSpPr>
        <p:spPr>
          <a:xfrm>
            <a:off x="5029200" y="3931920"/>
            <a:ext cx="1645920" cy="73152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Mauvaise visibilité</a:t>
            </a:r>
          </a:p>
        </p:txBody>
      </p:sp>
      <p:sp>
        <p:nvSpPr>
          <p:cNvPr id="8" name="Rounded Rectangle 7"/>
          <p:cNvSpPr/>
          <p:nvPr/>
        </p:nvSpPr>
        <p:spPr>
          <a:xfrm>
            <a:off x="2286000" y="3931920"/>
            <a:ext cx="1645920" cy="73152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Communication</a:t>
            </a:r>
          </a:p>
        </p:txBody>
      </p:sp>
      <p:sp>
        <p:nvSpPr>
          <p:cNvPr id="9" name="Rounded Rectangle 8"/>
          <p:cNvSpPr/>
          <p:nvPr/>
        </p:nvSpPr>
        <p:spPr>
          <a:xfrm>
            <a:off x="3200400" y="3931920"/>
            <a:ext cx="1645920" cy="73152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Décisions tardives</a:t>
            </a:r>
          </a:p>
        </p:txBody>
      </p:sp>
      <p:sp>
        <p:nvSpPr>
          <p:cNvPr id="10" name="TextBox 9"/>
          <p:cNvSpPr txBox="1"/>
          <p:nvPr/>
        </p:nvSpPr>
        <p:spPr>
          <a:xfrm>
            <a:off x="914400" y="5303520"/>
            <a:ext cx="7315200" cy="731520"/>
          </a:xfrm>
          <a:prstGeom prst="rect">
            <a:avLst/>
          </a:prstGeom>
          <a:noFill/>
        </p:spPr>
        <p:txBody>
          <a:bodyPr wrap="square">
            <a:spAutoFit/>
          </a:bodyPr>
          <a:lstStyle/>
          <a:p>
            <a:pPr algn="ctr">
              <a:defRPr sz="2000" b="1">
                <a:solidFill>
                  <a:srgbClr val="525F6B"/>
                </a:solidFill>
              </a:defRPr>
            </a:pPr>
            <a:r>
              <a:t>Les outils classiques (Excel, Trello) ne détectent pas ces problèmes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Pourquoi l'Intelligence Artificielle ?</a:t>
            </a:r>
          </a:p>
        </p:txBody>
      </p:sp>
      <p:sp>
        <p:nvSpPr>
          <p:cNvPr id="3" name="TextBox 2"/>
          <p:cNvSpPr txBox="1"/>
          <p:nvPr/>
        </p:nvSpPr>
        <p:spPr>
          <a:xfrm>
            <a:off x="914400" y="1828800"/>
            <a:ext cx="3200400" cy="548640"/>
          </a:xfrm>
          <a:prstGeom prst="rect">
            <a:avLst/>
          </a:prstGeom>
          <a:noFill/>
        </p:spPr>
        <p:txBody>
          <a:bodyPr wrap="square">
            <a:spAutoFit/>
          </a:bodyPr>
          <a:lstStyle/>
          <a:p>
            <a:pPr algn="ctr">
              <a:defRPr sz="2200" b="1">
                <a:solidFill>
                  <a:srgbClr val="0F62FE"/>
                </a:solidFill>
              </a:defRPr>
            </a:pPr>
            <a:r>
              <a:t>❌ AVANT (Outils classiques)</a:t>
            </a:r>
          </a:p>
        </p:txBody>
      </p:sp>
      <p:sp>
        <p:nvSpPr>
          <p:cNvPr id="4" name="TextBox 3"/>
          <p:cNvSpPr txBox="1"/>
          <p:nvPr/>
        </p:nvSpPr>
        <p:spPr>
          <a:xfrm>
            <a:off x="5029200" y="1828800"/>
            <a:ext cx="3200400" cy="548640"/>
          </a:xfrm>
          <a:prstGeom prst="rect">
            <a:avLst/>
          </a:prstGeom>
          <a:noFill/>
        </p:spPr>
        <p:txBody>
          <a:bodyPr wrap="square">
            <a:spAutoFit/>
          </a:bodyPr>
          <a:lstStyle/>
          <a:p>
            <a:pPr algn="ctr">
              <a:defRPr sz="2200" b="1">
                <a:solidFill>
                  <a:srgbClr val="0F62FE"/>
                </a:solidFill>
              </a:defRPr>
            </a:pPr>
            <a:r>
              <a:t>✅ AVEC IA (TeamPilot)</a:t>
            </a:r>
          </a:p>
        </p:txBody>
      </p:sp>
      <p:sp>
        <p:nvSpPr>
          <p:cNvPr id="5" name="TextBox 4"/>
          <p:cNvSpPr txBox="1"/>
          <p:nvPr/>
        </p:nvSpPr>
        <p:spPr>
          <a:xfrm>
            <a:off x="914400" y="2560320"/>
            <a:ext cx="3200400" cy="457200"/>
          </a:xfrm>
          <a:prstGeom prst="rect">
            <a:avLst/>
          </a:prstGeom>
          <a:noFill/>
        </p:spPr>
        <p:txBody>
          <a:bodyPr wrap="square">
            <a:spAutoFit/>
          </a:bodyPr>
          <a:lstStyle/>
          <a:p>
            <a:pPr algn="ctr">
              <a:defRPr sz="1800" b="0">
                <a:solidFill>
                  <a:srgbClr val="525F6B"/>
                </a:solidFill>
              </a:defRPr>
            </a:pPr>
            <a:r>
              <a:t>Réactif</a:t>
            </a:r>
          </a:p>
        </p:txBody>
      </p:sp>
      <p:sp>
        <p:nvSpPr>
          <p:cNvPr id="6" name="TextBox 5"/>
          <p:cNvSpPr txBox="1"/>
          <p:nvPr/>
        </p:nvSpPr>
        <p:spPr>
          <a:xfrm>
            <a:off x="5029200" y="2560320"/>
            <a:ext cx="3200400" cy="457200"/>
          </a:xfrm>
          <a:prstGeom prst="rect">
            <a:avLst/>
          </a:prstGeom>
          <a:noFill/>
        </p:spPr>
        <p:txBody>
          <a:bodyPr wrap="square">
            <a:spAutoFit/>
          </a:bodyPr>
          <a:lstStyle/>
          <a:p>
            <a:pPr algn="ctr">
              <a:defRPr sz="1800" b="1">
                <a:solidFill>
                  <a:srgbClr val="0043CE"/>
                </a:solidFill>
              </a:defRPr>
            </a:pPr>
            <a:r>
              <a:t>Prédictif</a:t>
            </a:r>
          </a:p>
        </p:txBody>
      </p:sp>
      <p:sp>
        <p:nvSpPr>
          <p:cNvPr id="7" name="TextBox 6"/>
          <p:cNvSpPr txBox="1"/>
          <p:nvPr/>
        </p:nvSpPr>
        <p:spPr>
          <a:xfrm>
            <a:off x="914400" y="3291840"/>
            <a:ext cx="3200400" cy="457200"/>
          </a:xfrm>
          <a:prstGeom prst="rect">
            <a:avLst/>
          </a:prstGeom>
          <a:noFill/>
        </p:spPr>
        <p:txBody>
          <a:bodyPr wrap="square">
            <a:spAutoFit/>
          </a:bodyPr>
          <a:lstStyle/>
          <a:p>
            <a:pPr algn="ctr">
              <a:defRPr sz="1800" b="0">
                <a:solidFill>
                  <a:srgbClr val="525F6B"/>
                </a:solidFill>
              </a:defRPr>
            </a:pPr>
            <a:r>
              <a:t>Manuel</a:t>
            </a:r>
          </a:p>
        </p:txBody>
      </p:sp>
      <p:sp>
        <p:nvSpPr>
          <p:cNvPr id="8" name="TextBox 7"/>
          <p:cNvSpPr txBox="1"/>
          <p:nvPr/>
        </p:nvSpPr>
        <p:spPr>
          <a:xfrm>
            <a:off x="5029200" y="3291840"/>
            <a:ext cx="3200400" cy="457200"/>
          </a:xfrm>
          <a:prstGeom prst="rect">
            <a:avLst/>
          </a:prstGeom>
          <a:noFill/>
        </p:spPr>
        <p:txBody>
          <a:bodyPr wrap="square">
            <a:spAutoFit/>
          </a:bodyPr>
          <a:lstStyle/>
          <a:p>
            <a:pPr algn="ctr">
              <a:defRPr sz="1800" b="1">
                <a:solidFill>
                  <a:srgbClr val="0043CE"/>
                </a:solidFill>
              </a:defRPr>
            </a:pPr>
            <a:r>
              <a:t>Automatique</a:t>
            </a:r>
          </a:p>
        </p:txBody>
      </p:sp>
      <p:sp>
        <p:nvSpPr>
          <p:cNvPr id="9" name="TextBox 8"/>
          <p:cNvSpPr txBox="1"/>
          <p:nvPr/>
        </p:nvSpPr>
        <p:spPr>
          <a:xfrm>
            <a:off x="914400" y="4023360"/>
            <a:ext cx="3200400" cy="457200"/>
          </a:xfrm>
          <a:prstGeom prst="rect">
            <a:avLst/>
          </a:prstGeom>
          <a:noFill/>
        </p:spPr>
        <p:txBody>
          <a:bodyPr wrap="square">
            <a:spAutoFit/>
          </a:bodyPr>
          <a:lstStyle/>
          <a:p>
            <a:pPr algn="ctr">
              <a:defRPr sz="1800" b="0">
                <a:solidFill>
                  <a:srgbClr val="525F6B"/>
                </a:solidFill>
              </a:defRPr>
            </a:pPr>
            <a:r>
              <a:t>Décisions subjectives</a:t>
            </a:r>
          </a:p>
        </p:txBody>
      </p:sp>
      <p:sp>
        <p:nvSpPr>
          <p:cNvPr id="10" name="TextBox 9"/>
          <p:cNvSpPr txBox="1"/>
          <p:nvPr/>
        </p:nvSpPr>
        <p:spPr>
          <a:xfrm>
            <a:off x="5029200" y="4023360"/>
            <a:ext cx="3200400" cy="457200"/>
          </a:xfrm>
          <a:prstGeom prst="rect">
            <a:avLst/>
          </a:prstGeom>
          <a:noFill/>
        </p:spPr>
        <p:txBody>
          <a:bodyPr wrap="square">
            <a:spAutoFit/>
          </a:bodyPr>
          <a:lstStyle/>
          <a:p>
            <a:pPr algn="ctr">
              <a:defRPr sz="1800" b="1">
                <a:solidFill>
                  <a:srgbClr val="0043CE"/>
                </a:solidFill>
              </a:defRPr>
            </a:pPr>
            <a:r>
              <a:t>Data-driven</a:t>
            </a:r>
          </a:p>
        </p:txBody>
      </p:sp>
      <p:sp>
        <p:nvSpPr>
          <p:cNvPr id="11" name="TextBox 10"/>
          <p:cNvSpPr txBox="1"/>
          <p:nvPr/>
        </p:nvSpPr>
        <p:spPr>
          <a:xfrm>
            <a:off x="914400" y="4754880"/>
            <a:ext cx="3200400" cy="457200"/>
          </a:xfrm>
          <a:prstGeom prst="rect">
            <a:avLst/>
          </a:prstGeom>
          <a:noFill/>
        </p:spPr>
        <p:txBody>
          <a:bodyPr wrap="square">
            <a:spAutoFit/>
          </a:bodyPr>
          <a:lstStyle/>
          <a:p>
            <a:pPr algn="ctr">
              <a:defRPr sz="1800" b="0">
                <a:solidFill>
                  <a:srgbClr val="525F6B"/>
                </a:solidFill>
              </a:defRPr>
            </a:pPr>
            <a:r>
              <a:t>Aucune prévision</a:t>
            </a:r>
          </a:p>
        </p:txBody>
      </p:sp>
      <p:sp>
        <p:nvSpPr>
          <p:cNvPr id="12" name="TextBox 11"/>
          <p:cNvSpPr txBox="1"/>
          <p:nvPr/>
        </p:nvSpPr>
        <p:spPr>
          <a:xfrm>
            <a:off x="5029200" y="4754880"/>
            <a:ext cx="3200400" cy="457200"/>
          </a:xfrm>
          <a:prstGeom prst="rect">
            <a:avLst/>
          </a:prstGeom>
          <a:noFill/>
        </p:spPr>
        <p:txBody>
          <a:bodyPr wrap="square">
            <a:spAutoFit/>
          </a:bodyPr>
          <a:lstStyle/>
          <a:p>
            <a:pPr algn="ctr">
              <a:defRPr sz="1800" b="1">
                <a:solidFill>
                  <a:srgbClr val="0043CE"/>
                </a:solidFill>
              </a:defRPr>
            </a:pPr>
            <a:r>
              <a:t>Anticipe les crises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TeamPilot AI: Architecture Complète</a:t>
            </a:r>
          </a:p>
        </p:txBody>
      </p:sp>
      <p:sp>
        <p:nvSpPr>
          <p:cNvPr id="3" name="Rounded Rectangle 2"/>
          <p:cNvSpPr/>
          <p:nvPr/>
        </p:nvSpPr>
        <p:spPr>
          <a:xfrm>
            <a:off x="1828800" y="1828800"/>
            <a:ext cx="5486400" cy="73152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Frontend</a:t>
            </a:r>
            <a:br/>
            <a:r>
              <a:t>React + Vite + Tailwind</a:t>
            </a:r>
          </a:p>
        </p:txBody>
      </p:sp>
      <p:sp>
        <p:nvSpPr>
          <p:cNvPr id="4" name="Rounded Rectangle 3"/>
          <p:cNvSpPr/>
          <p:nvPr/>
        </p:nvSpPr>
        <p:spPr>
          <a:xfrm>
            <a:off x="1828800" y="2926080"/>
            <a:ext cx="5486400" cy="73152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Backend</a:t>
            </a:r>
            <a:br/>
            <a:r>
              <a:t>Django REST Framework</a:t>
            </a:r>
          </a:p>
        </p:txBody>
      </p:sp>
      <p:sp>
        <p:nvSpPr>
          <p:cNvPr id="5" name="Rounded Rectangle 4"/>
          <p:cNvSpPr/>
          <p:nvPr/>
        </p:nvSpPr>
        <p:spPr>
          <a:xfrm>
            <a:off x="1828800" y="4023360"/>
            <a:ext cx="5486400" cy="731520"/>
          </a:xfrm>
          <a:prstGeom prst="roundRect">
            <a:avLst/>
          </a:prstGeom>
          <a:solidFill>
            <a:srgbClr val="0043CE"/>
          </a:solidFill>
          <a:ln>
            <a:solidFill>
              <a:srgbClr val="0043C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Base de données</a:t>
            </a:r>
            <a:br/>
            <a:r>
              <a:t>PostgreSQL</a:t>
            </a:r>
          </a:p>
        </p:txBody>
      </p:sp>
      <p:sp>
        <p:nvSpPr>
          <p:cNvPr id="6" name="Rounded Rectangle 5"/>
          <p:cNvSpPr/>
          <p:nvPr/>
        </p:nvSpPr>
        <p:spPr>
          <a:xfrm>
            <a:off x="1828800" y="5120640"/>
            <a:ext cx="5486400" cy="73152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Intelligence Artificielle</a:t>
            </a:r>
            <a:br/>
            <a:r>
              <a:t>IBM Granite via watsonx.ai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Fonctionnalités Principales</a:t>
            </a:r>
          </a:p>
        </p:txBody>
      </p:sp>
      <p:sp>
        <p:nvSpPr>
          <p:cNvPr id="3" name="Rounded Rectangle 2"/>
          <p:cNvSpPr/>
          <p:nvPr/>
        </p:nvSpPr>
        <p:spPr>
          <a:xfrm>
            <a:off x="914400" y="2011680"/>
            <a:ext cx="228600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Projets</a:t>
            </a:r>
            <a:br/>
            <a:br/>
            <a:r>
              <a:t>Gestion complète du cycle de vie</a:t>
            </a:r>
          </a:p>
        </p:txBody>
      </p:sp>
      <p:sp>
        <p:nvSpPr>
          <p:cNvPr id="4" name="Rounded Rectangle 3"/>
          <p:cNvSpPr/>
          <p:nvPr/>
        </p:nvSpPr>
        <p:spPr>
          <a:xfrm>
            <a:off x="3657600" y="2011680"/>
            <a:ext cx="228600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Équipes</a:t>
            </a:r>
            <a:br/>
            <a:br/>
            <a:r>
              <a:t>Compétences et capacités</a:t>
            </a:r>
          </a:p>
        </p:txBody>
      </p:sp>
      <p:sp>
        <p:nvSpPr>
          <p:cNvPr id="5" name="Rounded Rectangle 4"/>
          <p:cNvSpPr/>
          <p:nvPr/>
        </p:nvSpPr>
        <p:spPr>
          <a:xfrm>
            <a:off x="6400800" y="2011680"/>
            <a:ext cx="228600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Tâches</a:t>
            </a:r>
            <a:br/>
            <a:br/>
            <a:r>
              <a:t>Dépendances et statuts</a:t>
            </a:r>
          </a:p>
        </p:txBody>
      </p:sp>
      <p:sp>
        <p:nvSpPr>
          <p:cNvPr id="6" name="Rounded Rectangle 5"/>
          <p:cNvSpPr/>
          <p:nvPr/>
        </p:nvSpPr>
        <p:spPr>
          <a:xfrm>
            <a:off x="914400" y="3840480"/>
            <a:ext cx="228600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Workload</a:t>
            </a:r>
            <a:br/>
            <a:br/>
            <a:r>
              <a:t>Calcul en temps réel</a:t>
            </a:r>
          </a:p>
        </p:txBody>
      </p:sp>
      <p:sp>
        <p:nvSpPr>
          <p:cNvPr id="7" name="Rounded Rectangle 6"/>
          <p:cNvSpPr/>
          <p:nvPr/>
        </p:nvSpPr>
        <p:spPr>
          <a:xfrm>
            <a:off x="3657600" y="3840480"/>
            <a:ext cx="228600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Risques</a:t>
            </a:r>
            <a:br/>
            <a:br/>
            <a:r>
              <a:t>Score composite IA</a:t>
            </a:r>
          </a:p>
        </p:txBody>
      </p:sp>
      <p:sp>
        <p:nvSpPr>
          <p:cNvPr id="8" name="Rounded Rectangle 7"/>
          <p:cNvSpPr/>
          <p:nvPr/>
        </p:nvSpPr>
        <p:spPr>
          <a:xfrm>
            <a:off x="6400800" y="3840480"/>
            <a:ext cx="228600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Assistant</a:t>
            </a:r>
            <a:br/>
            <a:br/>
            <a:r>
              <a:t>Chat IBM Granite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Architecture IA: Le Cerveau de TeamPilot</a:t>
            </a:r>
          </a:p>
        </p:txBody>
      </p:sp>
      <p:sp>
        <p:nvSpPr>
          <p:cNvPr id="3" name="Rounded Rectangle 2"/>
          <p:cNvSpPr/>
          <p:nvPr/>
        </p:nvSpPr>
        <p:spPr>
          <a:xfrm>
            <a:off x="1828800" y="1645920"/>
            <a:ext cx="5486400" cy="54864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1. Utilisateur: Question / Demande</a:t>
            </a:r>
          </a:p>
        </p:txBody>
      </p:sp>
      <p:sp>
        <p:nvSpPr>
          <p:cNvPr id="4" name="Rounded Rectangle 3"/>
          <p:cNvSpPr/>
          <p:nvPr/>
        </p:nvSpPr>
        <p:spPr>
          <a:xfrm>
            <a:off x="1828800" y="2377440"/>
            <a:ext cx="5486400" cy="54864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2. Intent Classifier: Analyse l'intention</a:t>
            </a:r>
          </a:p>
        </p:txBody>
      </p:sp>
      <p:sp>
        <p:nvSpPr>
          <p:cNvPr id="5" name="Rounded Rectangle 4"/>
          <p:cNvSpPr/>
          <p:nvPr/>
        </p:nvSpPr>
        <p:spPr>
          <a:xfrm>
            <a:off x="1828800" y="3108960"/>
            <a:ext cx="5486400" cy="54864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3. Router: Dirige vers la bonne chaîne</a:t>
            </a:r>
          </a:p>
        </p:txBody>
      </p:sp>
      <p:sp>
        <p:nvSpPr>
          <p:cNvPr id="6" name="Rounded Rectangle 5"/>
          <p:cNvSpPr/>
          <p:nvPr/>
        </p:nvSpPr>
        <p:spPr>
          <a:xfrm>
            <a:off x="1828800" y="3840480"/>
            <a:ext cx="5486400" cy="548640"/>
          </a:xfrm>
          <a:prstGeom prst="roundRect">
            <a:avLst/>
          </a:prstGeom>
          <a:solidFill>
            <a:srgbClr val="0043CE"/>
          </a:solidFill>
          <a:ln>
            <a:solidFill>
              <a:srgbClr val="0043C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4. Data Snapshot: Collecte les données contextuelles</a:t>
            </a:r>
          </a:p>
        </p:txBody>
      </p:sp>
      <p:sp>
        <p:nvSpPr>
          <p:cNvPr id="7" name="Rounded Rectangle 6"/>
          <p:cNvSpPr/>
          <p:nvPr/>
        </p:nvSpPr>
        <p:spPr>
          <a:xfrm>
            <a:off x="1828800" y="4572000"/>
            <a:ext cx="5486400" cy="54864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5. IBM Granite: Génère la réponse intelligente</a:t>
            </a:r>
          </a:p>
        </p:txBody>
      </p:sp>
      <p:sp>
        <p:nvSpPr>
          <p:cNvPr id="8" name="Rounded Rectangle 7"/>
          <p:cNvSpPr/>
          <p:nvPr/>
        </p:nvSpPr>
        <p:spPr>
          <a:xfrm>
            <a:off x="1828800" y="5303520"/>
            <a:ext cx="5486400" cy="54864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6. Validation: Vérifie et retourne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Scénario Réel: Le Manager face à la crise</a:t>
            </a:r>
          </a:p>
        </p:txBody>
      </p:sp>
      <p:sp>
        <p:nvSpPr>
          <p:cNvPr id="3" name="Rounded Rectangle 2"/>
          <p:cNvSpPr/>
          <p:nvPr/>
        </p:nvSpPr>
        <p:spPr>
          <a:xfrm>
            <a:off x="1371600" y="2011680"/>
            <a:ext cx="6400800" cy="82296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Problème détecté</a:t>
            </a:r>
            <a:br/>
            <a:r>
              <a:t>David: 127.5% surchargé</a:t>
            </a:r>
            <a:br/>
            <a:r>
              <a:t>Projet CRM: 85.2% risque CRITIQUE</a:t>
            </a:r>
          </a:p>
        </p:txBody>
      </p:sp>
      <p:sp>
        <p:nvSpPr>
          <p:cNvPr id="4" name="Rounded Rectangle 3"/>
          <p:cNvSpPr/>
          <p:nvPr/>
        </p:nvSpPr>
        <p:spPr>
          <a:xfrm>
            <a:off x="1371600" y="3108960"/>
            <a:ext cx="6400800" cy="82296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IA suggère</a:t>
            </a:r>
            <a:br/>
            <a:r>
              <a:t>Réassigner 2 tâches de David vers Sarah</a:t>
            </a:r>
            <a:br/>
            <a:r>
              <a:t>Sarah: seulement 32.5% de charge</a:t>
            </a:r>
          </a:p>
        </p:txBody>
      </p:sp>
      <p:sp>
        <p:nvSpPr>
          <p:cNvPr id="5" name="Rounded Rectangle 4"/>
          <p:cNvSpPr/>
          <p:nvPr/>
        </p:nvSpPr>
        <p:spPr>
          <a:xfrm>
            <a:off x="1371600" y="4206240"/>
            <a:ext cx="6400800" cy="82296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Manager décide</a:t>
            </a:r>
            <a:br/>
            <a:r>
              <a:t>Alice (PM) valide la recommandation</a:t>
            </a:r>
            <a:br/>
            <a:r>
              <a:t>Voit la justification IA avant d'accepter</a:t>
            </a:r>
          </a:p>
        </p:txBody>
      </p:sp>
      <p:sp>
        <p:nvSpPr>
          <p:cNvPr id="6" name="Rounded Rectangle 5"/>
          <p:cNvSpPr/>
          <p:nvPr/>
        </p:nvSpPr>
        <p:spPr>
          <a:xfrm>
            <a:off x="1371600" y="5303520"/>
            <a:ext cx="6400800" cy="82296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Action appliquée</a:t>
            </a:r>
            <a:br/>
            <a:r>
              <a:t>Tâches réassignées automatiquement</a:t>
            </a:r>
            <a:br/>
            <a:r>
              <a:t>Notifications envoyées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Pourquoi IBM Granite via watsonx.ai ?</a:t>
            </a:r>
          </a:p>
        </p:txBody>
      </p:sp>
      <p:sp>
        <p:nvSpPr>
          <p:cNvPr id="3" name="Rounded Rectangle 2"/>
          <p:cNvSpPr/>
          <p:nvPr/>
        </p:nvSpPr>
        <p:spPr>
          <a:xfrm>
            <a:off x="914400" y="2011680"/>
            <a:ext cx="1828800" cy="109728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 Sécurité</a:t>
            </a:r>
            <a:br/>
            <a:r>
              <a:t>Entreprise</a:t>
            </a:r>
          </a:p>
        </p:txBody>
      </p:sp>
      <p:sp>
        <p:nvSpPr>
          <p:cNvPr id="4" name="Rounded Rectangle 3"/>
          <p:cNvSpPr/>
          <p:nvPr/>
        </p:nvSpPr>
        <p:spPr>
          <a:xfrm>
            <a:off x="2926080" y="2011680"/>
            <a:ext cx="1828800" cy="109728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 Pas de</a:t>
            </a:r>
            <a:br/>
            <a:r>
              <a:t>Vendor Lock</a:t>
            </a:r>
          </a:p>
        </p:txBody>
      </p:sp>
      <p:sp>
        <p:nvSpPr>
          <p:cNvPr id="5" name="Rounded Rectangle 4"/>
          <p:cNvSpPr/>
          <p:nvPr/>
        </p:nvSpPr>
        <p:spPr>
          <a:xfrm>
            <a:off x="4937760" y="2011680"/>
            <a:ext cx="1828800" cy="109728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 Transparence</a:t>
            </a:r>
            <a:br/>
            <a:r>
              <a:t>des données</a:t>
            </a:r>
          </a:p>
        </p:txBody>
      </p:sp>
      <p:sp>
        <p:nvSpPr>
          <p:cNvPr id="6" name="Rounded Rectangle 5"/>
          <p:cNvSpPr/>
          <p:nvPr/>
        </p:nvSpPr>
        <p:spPr>
          <a:xfrm>
            <a:off x="6949440" y="2011680"/>
            <a:ext cx="1828800" cy="109728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 Conçu pour</a:t>
            </a:r>
            <a:br/>
            <a:r>
              <a:t>le Business</a:t>
            </a:r>
          </a:p>
        </p:txBody>
      </p:sp>
      <p:sp>
        <p:nvSpPr>
          <p:cNvPr id="7" name="TextBox 6"/>
          <p:cNvSpPr txBox="1"/>
          <p:nvPr/>
        </p:nvSpPr>
        <p:spPr>
          <a:xfrm>
            <a:off x="914400" y="3657600"/>
            <a:ext cx="7315200" cy="457200"/>
          </a:xfrm>
          <a:prstGeom prst="rect">
            <a:avLst/>
          </a:prstGeom>
          <a:noFill/>
        </p:spPr>
        <p:txBody>
          <a:bodyPr wrap="square">
            <a:spAutoFit/>
          </a:bodyPr>
          <a:lstStyle/>
          <a:p>
            <a:pPr algn="ctr">
              <a:defRPr sz="1600" b="0">
                <a:solidFill>
                  <a:srgbClr val="525F6B"/>
                </a:solidFill>
              </a:defRPr>
            </a:pPr>
            <a:r>
              <a:t>❌ Pourquoi pas OpenAI/ChatGPT? Pas conçu pour l'entreprise, risques de confidentialité</a:t>
            </a:r>
          </a:p>
        </p:txBody>
      </p:sp>
      <p:sp>
        <p:nvSpPr>
          <p:cNvPr id="8" name="TextBox 7"/>
          <p:cNvSpPr txBox="1"/>
          <p:nvPr/>
        </p:nvSpPr>
        <p:spPr>
          <a:xfrm>
            <a:off x="914400" y="4206240"/>
            <a:ext cx="7315200" cy="457200"/>
          </a:xfrm>
          <a:prstGeom prst="rect">
            <a:avLst/>
          </a:prstGeom>
          <a:noFill/>
        </p:spPr>
        <p:txBody>
          <a:bodyPr wrap="square">
            <a:spAutoFit/>
          </a:bodyPr>
          <a:lstStyle/>
          <a:p>
            <a:pPr algn="ctr">
              <a:defRPr sz="1600" b="0">
                <a:solidFill>
                  <a:srgbClr val="525F6B"/>
                </a:solidFill>
              </a:defRPr>
            </a:pPr>
            <a:r>
              <a:t>❌ Pourquoi pas un modèle local? Trop de ressources, maintenance complexe</a:t>
            </a:r>
          </a:p>
        </p:txBody>
      </p:sp>
      <p:sp>
        <p:nvSpPr>
          <p:cNvPr id="9" name="TextBox 8"/>
          <p:cNvSpPr txBox="1"/>
          <p:nvPr/>
        </p:nvSpPr>
        <p:spPr>
          <a:xfrm>
            <a:off x="914400" y="4937760"/>
            <a:ext cx="7315200" cy="731520"/>
          </a:xfrm>
          <a:prstGeom prst="rect">
            <a:avLst/>
          </a:prstGeom>
          <a:noFill/>
        </p:spPr>
        <p:txBody>
          <a:bodyPr wrap="square">
            <a:spAutoFit/>
          </a:bodyPr>
          <a:lstStyle/>
          <a:p>
            <a:pPr algn="ctr">
              <a:defRPr sz="2000" b="1">
                <a:solidFill>
                  <a:srgbClr val="0F62FE"/>
                </a:solidFill>
              </a:defRPr>
            </a:pPr>
            <a:r>
              <a:t>✅ IBM Granite: Le meilleur compromis performance/sécurité/coût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Sécurité: Zéro compromis</a:t>
            </a:r>
          </a:p>
        </p:txBody>
      </p:sp>
      <p:sp>
        <p:nvSpPr>
          <p:cNvPr id="3" name="TextBox 2"/>
          <p:cNvSpPr txBox="1"/>
          <p:nvPr/>
        </p:nvSpPr>
        <p:spPr>
          <a:xfrm>
            <a:off x="1371600" y="2286000"/>
            <a:ext cx="6400800" cy="3657600"/>
          </a:xfrm>
          <a:prstGeom prst="rect">
            <a:avLst/>
          </a:prstGeom>
          <a:noFill/>
        </p:spPr>
        <p:txBody>
          <a:bodyPr wrap="square">
            <a:spAutoFit/>
          </a:bodyPr>
          <a:lstStyle/>
          <a:p>
            <a:pPr>
              <a:spcAft>
                <a:spcPts val="1200"/>
              </a:spcAft>
              <a:defRPr sz="2000">
                <a:solidFill>
                  <a:srgbClr val="525F6B"/>
                </a:solidFill>
              </a:defRPr>
            </a:pPr>
            <a:r>
              <a:t>🔐 Permissions granulaires par rôle (Admin, PM, Member, Executive)</a:t>
            </a:r>
          </a:p>
          <a:p>
            <a:pPr>
              <a:spcAft>
                <a:spcPts val="1200"/>
              </a:spcAft>
              <a:defRPr sz="2000">
                <a:solidFill>
                  <a:srgbClr val="525F6B"/>
                </a:solidFill>
              </a:defRPr>
            </a:pPr>
            <a:r>
              <a:t>🛡️ Validation des réponses IA avant affichage</a:t>
            </a:r>
          </a:p>
          <a:p>
            <a:pPr>
              <a:spcAft>
                <a:spcPts val="1200"/>
              </a:spcAft>
              <a:defRPr sz="2000">
                <a:solidFill>
                  <a:srgbClr val="525F6B"/>
                </a:solidFill>
              </a:defRPr>
            </a:pPr>
            <a:r>
              <a:t>🚫 Anti-hallucination: fallback templates si IA indisponible</a:t>
            </a:r>
          </a:p>
          <a:p>
            <a:pPr>
              <a:spcAft>
                <a:spcPts val="1200"/>
              </a:spcAft>
              <a:defRPr sz="2000">
                <a:solidFill>
                  <a:srgbClr val="525F6B"/>
                </a:solidFill>
              </a:defRPr>
            </a:pPr>
            <a:r>
              <a:t>📝 Audit trail complet de toutes les actions</a:t>
            </a:r>
          </a:p>
          <a:p>
            <a:pPr>
              <a:spcAft>
                <a:spcPts val="1200"/>
              </a:spcAft>
              <a:defRPr sz="2000">
                <a:solidFill>
                  <a:srgbClr val="525F6B"/>
                </a:solidFill>
              </a:defRPr>
            </a:pPr>
            <a:r>
              <a:t>🔒 Données chiffrées en transit et au repos</a:t>
            </a:r>
          </a:p>
          <a:p>
            <a:pPr>
              <a:spcAft>
                <a:spcPts val="1200"/>
              </a:spcAft>
              <a:defRPr sz="2000">
                <a:solidFill>
                  <a:srgbClr val="525F6B"/>
                </a:solidFill>
              </a:defRPr>
            </a:pPr>
            <a:r>
              <a:t>✅ 222 tests automatisés pour garantir la cohérence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Innovation: Ce qui nous rend uniques</a:t>
            </a:r>
          </a:p>
        </p:txBody>
      </p:sp>
      <p:sp>
        <p:nvSpPr>
          <p:cNvPr id="3" name="TextBox 2"/>
          <p:cNvSpPr txBox="1"/>
          <p:nvPr/>
        </p:nvSpPr>
        <p:spPr>
          <a:xfrm>
            <a:off x="914400" y="1828800"/>
            <a:ext cx="1828800" cy="457200"/>
          </a:xfrm>
          <a:prstGeom prst="rect">
            <a:avLst/>
          </a:prstGeom>
          <a:noFill/>
        </p:spPr>
        <p:txBody>
          <a:bodyPr wrap="square">
            <a:spAutoFit/>
          </a:bodyPr>
          <a:lstStyle/>
          <a:p>
            <a:pPr algn="ctr">
              <a:defRPr sz="1800" b="1">
                <a:solidFill>
                  <a:srgbClr val="FFFFFF"/>
                </a:solidFill>
              </a:defRPr>
            </a:pPr>
            <a:r>
              <a:t>Fonctionnalité</a:t>
            </a:r>
          </a:p>
        </p:txBody>
      </p:sp>
      <p:sp>
        <p:nvSpPr>
          <p:cNvPr id="4" name="Rounded Rectangle 3"/>
          <p:cNvSpPr/>
          <p:nvPr/>
        </p:nvSpPr>
        <p:spPr>
          <a:xfrm>
            <a:off x="914400" y="1828800"/>
            <a:ext cx="1828800" cy="45720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Fonctionnalité</a:t>
            </a:r>
          </a:p>
        </p:txBody>
      </p:sp>
      <p:sp>
        <p:nvSpPr>
          <p:cNvPr id="5" name="Rounded Rectangle 4"/>
          <p:cNvSpPr/>
          <p:nvPr/>
        </p:nvSpPr>
        <p:spPr>
          <a:xfrm>
            <a:off x="2743200" y="1828800"/>
            <a:ext cx="1188720" cy="45720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Trello</a:t>
            </a:r>
          </a:p>
        </p:txBody>
      </p:sp>
      <p:sp>
        <p:nvSpPr>
          <p:cNvPr id="6" name="Rounded Rectangle 5"/>
          <p:cNvSpPr/>
          <p:nvPr/>
        </p:nvSpPr>
        <p:spPr>
          <a:xfrm>
            <a:off x="4114800" y="1828800"/>
            <a:ext cx="1188720" cy="45720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Asana</a:t>
            </a:r>
          </a:p>
        </p:txBody>
      </p:sp>
      <p:sp>
        <p:nvSpPr>
          <p:cNvPr id="7" name="Rounded Rectangle 6"/>
          <p:cNvSpPr/>
          <p:nvPr/>
        </p:nvSpPr>
        <p:spPr>
          <a:xfrm>
            <a:off x="5486400" y="1828800"/>
            <a:ext cx="1188720" cy="457200"/>
          </a:xfrm>
          <a:prstGeom prst="roundRect">
            <a:avLst/>
          </a:prstGeom>
          <a:solidFill>
            <a:srgbClr val="D2D5D8"/>
          </a:solidFill>
          <a:ln>
            <a:solidFill>
              <a:srgbClr val="D2D5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Jira</a:t>
            </a:r>
          </a:p>
        </p:txBody>
      </p:sp>
      <p:sp>
        <p:nvSpPr>
          <p:cNvPr id="8" name="Rounded Rectangle 7"/>
          <p:cNvSpPr/>
          <p:nvPr/>
        </p:nvSpPr>
        <p:spPr>
          <a:xfrm>
            <a:off x="6858000" y="1828800"/>
            <a:ext cx="1188720" cy="457200"/>
          </a:xfrm>
          <a:prstGeom prst="roundRect">
            <a:avLst/>
          </a:prstGeom>
          <a:solidFill>
            <a:srgbClr val="0F62FE"/>
          </a:solidFill>
          <a:ln>
            <a:solidFill>
              <a:srgbClr val="0F6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TeamPilot</a:t>
            </a:r>
          </a:p>
        </p:txBody>
      </p:sp>
      <p:sp>
        <p:nvSpPr>
          <p:cNvPr id="9" name="TextBox 8"/>
          <p:cNvSpPr txBox="1"/>
          <p:nvPr/>
        </p:nvSpPr>
        <p:spPr>
          <a:xfrm>
            <a:off x="914400" y="2468880"/>
            <a:ext cx="1828800" cy="457200"/>
          </a:xfrm>
          <a:prstGeom prst="rect">
            <a:avLst/>
          </a:prstGeom>
          <a:noFill/>
        </p:spPr>
        <p:txBody>
          <a:bodyPr wrap="square">
            <a:spAutoFit/>
          </a:bodyPr>
          <a:lstStyle/>
          <a:p>
            <a:pPr algn="l">
              <a:defRPr sz="1600" b="0">
                <a:solidFill>
                  <a:srgbClr val="525F6B"/>
                </a:solidFill>
              </a:defRPr>
            </a:pPr>
            <a:r>
              <a:t>Gestion tâches</a:t>
            </a:r>
          </a:p>
        </p:txBody>
      </p:sp>
      <p:sp>
        <p:nvSpPr>
          <p:cNvPr id="10" name="TextBox 9"/>
          <p:cNvSpPr txBox="1"/>
          <p:nvPr/>
        </p:nvSpPr>
        <p:spPr>
          <a:xfrm>
            <a:off x="2743200" y="2468880"/>
            <a:ext cx="1188720" cy="457200"/>
          </a:xfrm>
          <a:prstGeom prst="rect">
            <a:avLst/>
          </a:prstGeom>
          <a:noFill/>
        </p:spPr>
        <p:txBody>
          <a:bodyPr wrap="square">
            <a:spAutoFit/>
          </a:bodyPr>
          <a:lstStyle/>
          <a:p>
            <a:pPr algn="ctr">
              <a:defRPr sz="1800" b="0">
                <a:solidFill>
                  <a:srgbClr val="000000"/>
                </a:solidFill>
              </a:defRPr>
            </a:pPr>
            <a:r>
              <a:t>✅</a:t>
            </a:r>
          </a:p>
        </p:txBody>
      </p:sp>
      <p:sp>
        <p:nvSpPr>
          <p:cNvPr id="11" name="TextBox 10"/>
          <p:cNvSpPr txBox="1"/>
          <p:nvPr/>
        </p:nvSpPr>
        <p:spPr>
          <a:xfrm>
            <a:off x="4114800" y="2468880"/>
            <a:ext cx="1188720" cy="457200"/>
          </a:xfrm>
          <a:prstGeom prst="rect">
            <a:avLst/>
          </a:prstGeom>
          <a:noFill/>
        </p:spPr>
        <p:txBody>
          <a:bodyPr wrap="square">
            <a:spAutoFit/>
          </a:bodyPr>
          <a:lstStyle/>
          <a:p>
            <a:pPr algn="ctr">
              <a:defRPr sz="1800" b="0">
                <a:solidFill>
                  <a:srgbClr val="000000"/>
                </a:solidFill>
              </a:defRPr>
            </a:pPr>
            <a:r>
              <a:t>✅</a:t>
            </a:r>
          </a:p>
        </p:txBody>
      </p:sp>
      <p:sp>
        <p:nvSpPr>
          <p:cNvPr id="12" name="TextBox 11"/>
          <p:cNvSpPr txBox="1"/>
          <p:nvPr/>
        </p:nvSpPr>
        <p:spPr>
          <a:xfrm>
            <a:off x="5486400" y="2468880"/>
            <a:ext cx="1188720" cy="457200"/>
          </a:xfrm>
          <a:prstGeom prst="rect">
            <a:avLst/>
          </a:prstGeom>
          <a:noFill/>
        </p:spPr>
        <p:txBody>
          <a:bodyPr wrap="square">
            <a:spAutoFit/>
          </a:bodyPr>
          <a:lstStyle/>
          <a:p>
            <a:pPr algn="ctr">
              <a:defRPr sz="1800" b="0">
                <a:solidFill>
                  <a:srgbClr val="000000"/>
                </a:solidFill>
              </a:defRPr>
            </a:pPr>
            <a:r>
              <a:t>✅</a:t>
            </a:r>
          </a:p>
        </p:txBody>
      </p:sp>
      <p:sp>
        <p:nvSpPr>
          <p:cNvPr id="13" name="TextBox 12"/>
          <p:cNvSpPr txBox="1"/>
          <p:nvPr/>
        </p:nvSpPr>
        <p:spPr>
          <a:xfrm>
            <a:off x="6858000" y="2468880"/>
            <a:ext cx="1188720" cy="457200"/>
          </a:xfrm>
          <a:prstGeom prst="rect">
            <a:avLst/>
          </a:prstGeom>
          <a:noFill/>
        </p:spPr>
        <p:txBody>
          <a:bodyPr wrap="square">
            <a:spAutoFit/>
          </a:bodyPr>
          <a:lstStyle/>
          <a:p>
            <a:pPr algn="ctr">
              <a:defRPr sz="1800" b="0">
                <a:solidFill>
                  <a:srgbClr val="000000"/>
                </a:solidFill>
              </a:defRPr>
            </a:pPr>
            <a:r>
              <a:t>✅</a:t>
            </a:r>
          </a:p>
        </p:txBody>
      </p:sp>
      <p:sp>
        <p:nvSpPr>
          <p:cNvPr id="14" name="TextBox 13"/>
          <p:cNvSpPr txBox="1"/>
          <p:nvPr/>
        </p:nvSpPr>
        <p:spPr>
          <a:xfrm>
            <a:off x="914400" y="3108960"/>
            <a:ext cx="1828800" cy="457200"/>
          </a:xfrm>
          <a:prstGeom prst="rect">
            <a:avLst/>
          </a:prstGeom>
          <a:noFill/>
        </p:spPr>
        <p:txBody>
          <a:bodyPr wrap="square">
            <a:spAutoFit/>
          </a:bodyPr>
          <a:lstStyle/>
          <a:p>
            <a:pPr algn="l">
              <a:defRPr sz="1600" b="0">
                <a:solidFill>
                  <a:srgbClr val="525F6B"/>
                </a:solidFill>
              </a:defRPr>
            </a:pPr>
            <a:r>
              <a:t>Calcul workload</a:t>
            </a:r>
          </a:p>
        </p:txBody>
      </p:sp>
      <p:sp>
        <p:nvSpPr>
          <p:cNvPr id="15" name="TextBox 14"/>
          <p:cNvSpPr txBox="1"/>
          <p:nvPr/>
        </p:nvSpPr>
        <p:spPr>
          <a:xfrm>
            <a:off x="2743200" y="3108960"/>
            <a:ext cx="1188720" cy="457200"/>
          </a:xfrm>
          <a:prstGeom prst="rect">
            <a:avLst/>
          </a:prstGeom>
          <a:noFill/>
        </p:spPr>
        <p:txBody>
          <a:bodyPr wrap="square">
            <a:spAutoFit/>
          </a:bodyPr>
          <a:lstStyle/>
          <a:p>
            <a:pPr algn="ctr">
              <a:defRPr sz="1800" b="0">
                <a:solidFill>
                  <a:srgbClr val="000000"/>
                </a:solidFill>
              </a:defRPr>
            </a:pPr>
            <a:r>
              <a:t>❌</a:t>
            </a:r>
          </a:p>
        </p:txBody>
      </p:sp>
      <p:sp>
        <p:nvSpPr>
          <p:cNvPr id="16" name="TextBox 15"/>
          <p:cNvSpPr txBox="1"/>
          <p:nvPr/>
        </p:nvSpPr>
        <p:spPr>
          <a:xfrm>
            <a:off x="4114800" y="3108960"/>
            <a:ext cx="1188720" cy="457200"/>
          </a:xfrm>
          <a:prstGeom prst="rect">
            <a:avLst/>
          </a:prstGeom>
          <a:noFill/>
        </p:spPr>
        <p:txBody>
          <a:bodyPr wrap="square">
            <a:spAutoFit/>
          </a:bodyPr>
          <a:lstStyle/>
          <a:p>
            <a:pPr algn="ctr">
              <a:defRPr sz="1800" b="0">
                <a:solidFill>
                  <a:srgbClr val="000000"/>
                </a:solidFill>
              </a:defRPr>
            </a:pPr>
            <a:r>
              <a:t>✅</a:t>
            </a:r>
          </a:p>
        </p:txBody>
      </p:sp>
      <p:sp>
        <p:nvSpPr>
          <p:cNvPr id="17" name="TextBox 16"/>
          <p:cNvSpPr txBox="1"/>
          <p:nvPr/>
        </p:nvSpPr>
        <p:spPr>
          <a:xfrm>
            <a:off x="5486400" y="3108960"/>
            <a:ext cx="1188720" cy="457200"/>
          </a:xfrm>
          <a:prstGeom prst="rect">
            <a:avLst/>
          </a:prstGeom>
          <a:noFill/>
        </p:spPr>
        <p:txBody>
          <a:bodyPr wrap="square">
            <a:spAutoFit/>
          </a:bodyPr>
          <a:lstStyle/>
          <a:p>
            <a:pPr algn="ctr">
              <a:defRPr sz="1800" b="0">
                <a:solidFill>
                  <a:srgbClr val="000000"/>
                </a:solidFill>
              </a:defRPr>
            </a:pPr>
            <a:r>
              <a:t>✅</a:t>
            </a:r>
          </a:p>
        </p:txBody>
      </p:sp>
      <p:sp>
        <p:nvSpPr>
          <p:cNvPr id="18" name="TextBox 17"/>
          <p:cNvSpPr txBox="1"/>
          <p:nvPr/>
        </p:nvSpPr>
        <p:spPr>
          <a:xfrm>
            <a:off x="6858000" y="3108960"/>
            <a:ext cx="1188720" cy="457200"/>
          </a:xfrm>
          <a:prstGeom prst="rect">
            <a:avLst/>
          </a:prstGeom>
          <a:noFill/>
        </p:spPr>
        <p:txBody>
          <a:bodyPr wrap="square">
            <a:spAutoFit/>
          </a:bodyPr>
          <a:lstStyle/>
          <a:p>
            <a:pPr algn="ctr">
              <a:defRPr sz="1800" b="0">
                <a:solidFill>
                  <a:srgbClr val="000000"/>
                </a:solidFill>
              </a:defRPr>
            </a:pPr>
            <a:r>
              <a:t>✅</a:t>
            </a:r>
          </a:p>
        </p:txBody>
      </p:sp>
      <p:sp>
        <p:nvSpPr>
          <p:cNvPr id="19" name="TextBox 18"/>
          <p:cNvSpPr txBox="1"/>
          <p:nvPr/>
        </p:nvSpPr>
        <p:spPr>
          <a:xfrm>
            <a:off x="914400" y="3749039"/>
            <a:ext cx="1828800" cy="457200"/>
          </a:xfrm>
          <a:prstGeom prst="rect">
            <a:avLst/>
          </a:prstGeom>
          <a:noFill/>
        </p:spPr>
        <p:txBody>
          <a:bodyPr wrap="square">
            <a:spAutoFit/>
          </a:bodyPr>
          <a:lstStyle/>
          <a:p>
            <a:pPr algn="l">
              <a:defRPr sz="1600" b="0">
                <a:solidFill>
                  <a:srgbClr val="525F6B"/>
                </a:solidFill>
              </a:defRPr>
            </a:pPr>
            <a:r>
              <a:t>Détection risques</a:t>
            </a:r>
          </a:p>
        </p:txBody>
      </p:sp>
      <p:sp>
        <p:nvSpPr>
          <p:cNvPr id="20" name="TextBox 19"/>
          <p:cNvSpPr txBox="1"/>
          <p:nvPr/>
        </p:nvSpPr>
        <p:spPr>
          <a:xfrm>
            <a:off x="2743200" y="3749039"/>
            <a:ext cx="1188720" cy="457200"/>
          </a:xfrm>
          <a:prstGeom prst="rect">
            <a:avLst/>
          </a:prstGeom>
          <a:noFill/>
        </p:spPr>
        <p:txBody>
          <a:bodyPr wrap="square">
            <a:spAutoFit/>
          </a:bodyPr>
          <a:lstStyle/>
          <a:p>
            <a:pPr algn="ctr">
              <a:defRPr sz="1800" b="0">
                <a:solidFill>
                  <a:srgbClr val="000000"/>
                </a:solidFill>
              </a:defRPr>
            </a:pPr>
            <a:r>
              <a:t>❌</a:t>
            </a:r>
          </a:p>
        </p:txBody>
      </p:sp>
      <p:sp>
        <p:nvSpPr>
          <p:cNvPr id="21" name="TextBox 20"/>
          <p:cNvSpPr txBox="1"/>
          <p:nvPr/>
        </p:nvSpPr>
        <p:spPr>
          <a:xfrm>
            <a:off x="4114800" y="3749039"/>
            <a:ext cx="1188720" cy="457200"/>
          </a:xfrm>
          <a:prstGeom prst="rect">
            <a:avLst/>
          </a:prstGeom>
          <a:noFill/>
        </p:spPr>
        <p:txBody>
          <a:bodyPr wrap="square">
            <a:spAutoFit/>
          </a:bodyPr>
          <a:lstStyle/>
          <a:p>
            <a:pPr algn="ctr">
              <a:defRPr sz="1800" b="0">
                <a:solidFill>
                  <a:srgbClr val="000000"/>
                </a:solidFill>
              </a:defRPr>
            </a:pPr>
            <a:r>
              <a:t>❌</a:t>
            </a:r>
          </a:p>
        </p:txBody>
      </p:sp>
      <p:sp>
        <p:nvSpPr>
          <p:cNvPr id="22" name="TextBox 21"/>
          <p:cNvSpPr txBox="1"/>
          <p:nvPr/>
        </p:nvSpPr>
        <p:spPr>
          <a:xfrm>
            <a:off x="5486400" y="3749039"/>
            <a:ext cx="1188720" cy="457200"/>
          </a:xfrm>
          <a:prstGeom prst="rect">
            <a:avLst/>
          </a:prstGeom>
          <a:noFill/>
        </p:spPr>
        <p:txBody>
          <a:bodyPr wrap="square">
            <a:spAutoFit/>
          </a:bodyPr>
          <a:lstStyle/>
          <a:p>
            <a:pPr algn="ctr">
              <a:defRPr sz="1800" b="0">
                <a:solidFill>
                  <a:srgbClr val="000000"/>
                </a:solidFill>
              </a:defRPr>
            </a:pPr>
            <a:r>
              <a:t>⚠️</a:t>
            </a:r>
          </a:p>
        </p:txBody>
      </p:sp>
      <p:sp>
        <p:nvSpPr>
          <p:cNvPr id="23" name="TextBox 22"/>
          <p:cNvSpPr txBox="1"/>
          <p:nvPr/>
        </p:nvSpPr>
        <p:spPr>
          <a:xfrm>
            <a:off x="6858000" y="3749039"/>
            <a:ext cx="1188720" cy="457200"/>
          </a:xfrm>
          <a:prstGeom prst="rect">
            <a:avLst/>
          </a:prstGeom>
          <a:noFill/>
        </p:spPr>
        <p:txBody>
          <a:bodyPr wrap="square">
            <a:spAutoFit/>
          </a:bodyPr>
          <a:lstStyle/>
          <a:p>
            <a:pPr algn="ctr">
              <a:defRPr sz="1800" b="0">
                <a:solidFill>
                  <a:srgbClr val="000000"/>
                </a:solidFill>
              </a:defRPr>
            </a:pPr>
            <a:r>
              <a:t>✅</a:t>
            </a:r>
          </a:p>
        </p:txBody>
      </p:sp>
      <p:sp>
        <p:nvSpPr>
          <p:cNvPr id="24" name="TextBox 23"/>
          <p:cNvSpPr txBox="1"/>
          <p:nvPr/>
        </p:nvSpPr>
        <p:spPr>
          <a:xfrm>
            <a:off x="914400" y="4389120"/>
            <a:ext cx="1828800" cy="457200"/>
          </a:xfrm>
          <a:prstGeom prst="rect">
            <a:avLst/>
          </a:prstGeom>
          <a:noFill/>
        </p:spPr>
        <p:txBody>
          <a:bodyPr wrap="square">
            <a:spAutoFit/>
          </a:bodyPr>
          <a:lstStyle/>
          <a:p>
            <a:pPr algn="l">
              <a:defRPr sz="1600" b="0">
                <a:solidFill>
                  <a:srgbClr val="525F6B"/>
                </a:solidFill>
              </a:defRPr>
            </a:pPr>
            <a:r>
              <a:t>IA prédictive</a:t>
            </a:r>
          </a:p>
        </p:txBody>
      </p:sp>
      <p:sp>
        <p:nvSpPr>
          <p:cNvPr id="25" name="TextBox 24"/>
          <p:cNvSpPr txBox="1"/>
          <p:nvPr/>
        </p:nvSpPr>
        <p:spPr>
          <a:xfrm>
            <a:off x="2743200" y="4389120"/>
            <a:ext cx="1188720" cy="457200"/>
          </a:xfrm>
          <a:prstGeom prst="rect">
            <a:avLst/>
          </a:prstGeom>
          <a:noFill/>
        </p:spPr>
        <p:txBody>
          <a:bodyPr wrap="square">
            <a:spAutoFit/>
          </a:bodyPr>
          <a:lstStyle/>
          <a:p>
            <a:pPr algn="ctr">
              <a:defRPr sz="1800" b="0">
                <a:solidFill>
                  <a:srgbClr val="000000"/>
                </a:solidFill>
              </a:defRPr>
            </a:pPr>
            <a:r>
              <a:t>❌</a:t>
            </a:r>
          </a:p>
        </p:txBody>
      </p:sp>
      <p:sp>
        <p:nvSpPr>
          <p:cNvPr id="26" name="TextBox 25"/>
          <p:cNvSpPr txBox="1"/>
          <p:nvPr/>
        </p:nvSpPr>
        <p:spPr>
          <a:xfrm>
            <a:off x="4114800" y="4389120"/>
            <a:ext cx="1188720" cy="457200"/>
          </a:xfrm>
          <a:prstGeom prst="rect">
            <a:avLst/>
          </a:prstGeom>
          <a:noFill/>
        </p:spPr>
        <p:txBody>
          <a:bodyPr wrap="square">
            <a:spAutoFit/>
          </a:bodyPr>
          <a:lstStyle/>
          <a:p>
            <a:pPr algn="ctr">
              <a:defRPr sz="1800" b="0">
                <a:solidFill>
                  <a:srgbClr val="000000"/>
                </a:solidFill>
              </a:defRPr>
            </a:pPr>
            <a:r>
              <a:t>❌</a:t>
            </a:r>
          </a:p>
        </p:txBody>
      </p:sp>
      <p:sp>
        <p:nvSpPr>
          <p:cNvPr id="27" name="TextBox 26"/>
          <p:cNvSpPr txBox="1"/>
          <p:nvPr/>
        </p:nvSpPr>
        <p:spPr>
          <a:xfrm>
            <a:off x="5486400" y="4389120"/>
            <a:ext cx="1188720" cy="457200"/>
          </a:xfrm>
          <a:prstGeom prst="rect">
            <a:avLst/>
          </a:prstGeom>
          <a:noFill/>
        </p:spPr>
        <p:txBody>
          <a:bodyPr wrap="square">
            <a:spAutoFit/>
          </a:bodyPr>
          <a:lstStyle/>
          <a:p>
            <a:pPr algn="ctr">
              <a:defRPr sz="1800" b="0">
                <a:solidFill>
                  <a:srgbClr val="000000"/>
                </a:solidFill>
              </a:defRPr>
            </a:pPr>
            <a:r>
              <a:t>❌</a:t>
            </a:r>
          </a:p>
        </p:txBody>
      </p:sp>
      <p:sp>
        <p:nvSpPr>
          <p:cNvPr id="28" name="TextBox 27"/>
          <p:cNvSpPr txBox="1"/>
          <p:nvPr/>
        </p:nvSpPr>
        <p:spPr>
          <a:xfrm>
            <a:off x="6858000" y="4389120"/>
            <a:ext cx="1188720" cy="457200"/>
          </a:xfrm>
          <a:prstGeom prst="rect">
            <a:avLst/>
          </a:prstGeom>
          <a:noFill/>
        </p:spPr>
        <p:txBody>
          <a:bodyPr wrap="square">
            <a:spAutoFit/>
          </a:bodyPr>
          <a:lstStyle/>
          <a:p>
            <a:pPr algn="ctr">
              <a:defRPr sz="1800" b="0">
                <a:solidFill>
                  <a:srgbClr val="000000"/>
                </a:solidFill>
              </a:defRPr>
            </a:pPr>
            <a:r>
              <a:t>✅</a:t>
            </a:r>
          </a:p>
        </p:txBody>
      </p:sp>
      <p:sp>
        <p:nvSpPr>
          <p:cNvPr id="29" name="TextBox 28"/>
          <p:cNvSpPr txBox="1"/>
          <p:nvPr/>
        </p:nvSpPr>
        <p:spPr>
          <a:xfrm>
            <a:off x="914400" y="5029200"/>
            <a:ext cx="1828800" cy="457200"/>
          </a:xfrm>
          <a:prstGeom prst="rect">
            <a:avLst/>
          </a:prstGeom>
          <a:noFill/>
        </p:spPr>
        <p:txBody>
          <a:bodyPr wrap="square">
            <a:spAutoFit/>
          </a:bodyPr>
          <a:lstStyle/>
          <a:p>
            <a:pPr algn="l">
              <a:defRPr sz="1600" b="0">
                <a:solidFill>
                  <a:srgbClr val="525F6B"/>
                </a:solidFill>
              </a:defRPr>
            </a:pPr>
            <a:r>
              <a:t>Assistant IA</a:t>
            </a:r>
          </a:p>
        </p:txBody>
      </p:sp>
      <p:sp>
        <p:nvSpPr>
          <p:cNvPr id="30" name="TextBox 29"/>
          <p:cNvSpPr txBox="1"/>
          <p:nvPr/>
        </p:nvSpPr>
        <p:spPr>
          <a:xfrm>
            <a:off x="2743200" y="5029200"/>
            <a:ext cx="1188720" cy="457200"/>
          </a:xfrm>
          <a:prstGeom prst="rect">
            <a:avLst/>
          </a:prstGeom>
          <a:noFill/>
        </p:spPr>
        <p:txBody>
          <a:bodyPr wrap="square">
            <a:spAutoFit/>
          </a:bodyPr>
          <a:lstStyle/>
          <a:p>
            <a:pPr algn="ctr">
              <a:defRPr sz="1800" b="0">
                <a:solidFill>
                  <a:srgbClr val="000000"/>
                </a:solidFill>
              </a:defRPr>
            </a:pPr>
            <a:r>
              <a:t>❌</a:t>
            </a:r>
          </a:p>
        </p:txBody>
      </p:sp>
      <p:sp>
        <p:nvSpPr>
          <p:cNvPr id="31" name="TextBox 30"/>
          <p:cNvSpPr txBox="1"/>
          <p:nvPr/>
        </p:nvSpPr>
        <p:spPr>
          <a:xfrm>
            <a:off x="4114800" y="5029200"/>
            <a:ext cx="1188720" cy="457200"/>
          </a:xfrm>
          <a:prstGeom prst="rect">
            <a:avLst/>
          </a:prstGeom>
          <a:noFill/>
        </p:spPr>
        <p:txBody>
          <a:bodyPr wrap="square">
            <a:spAutoFit/>
          </a:bodyPr>
          <a:lstStyle/>
          <a:p>
            <a:pPr algn="ctr">
              <a:defRPr sz="1800" b="0">
                <a:solidFill>
                  <a:srgbClr val="000000"/>
                </a:solidFill>
              </a:defRPr>
            </a:pPr>
            <a:r>
              <a:t>❌</a:t>
            </a:r>
          </a:p>
        </p:txBody>
      </p:sp>
      <p:sp>
        <p:nvSpPr>
          <p:cNvPr id="32" name="TextBox 31"/>
          <p:cNvSpPr txBox="1"/>
          <p:nvPr/>
        </p:nvSpPr>
        <p:spPr>
          <a:xfrm>
            <a:off x="5486400" y="5029200"/>
            <a:ext cx="1188720" cy="457200"/>
          </a:xfrm>
          <a:prstGeom prst="rect">
            <a:avLst/>
          </a:prstGeom>
          <a:noFill/>
        </p:spPr>
        <p:txBody>
          <a:bodyPr wrap="square">
            <a:spAutoFit/>
          </a:bodyPr>
          <a:lstStyle/>
          <a:p>
            <a:pPr algn="ctr">
              <a:defRPr sz="1800" b="0">
                <a:solidFill>
                  <a:srgbClr val="000000"/>
                </a:solidFill>
              </a:defRPr>
            </a:pPr>
            <a:r>
              <a:t>❌</a:t>
            </a:r>
          </a:p>
        </p:txBody>
      </p:sp>
      <p:sp>
        <p:nvSpPr>
          <p:cNvPr id="33" name="TextBox 32"/>
          <p:cNvSpPr txBox="1"/>
          <p:nvPr/>
        </p:nvSpPr>
        <p:spPr>
          <a:xfrm>
            <a:off x="6858000" y="5029200"/>
            <a:ext cx="1188720" cy="457200"/>
          </a:xfrm>
          <a:prstGeom prst="rect">
            <a:avLst/>
          </a:prstGeom>
          <a:noFill/>
        </p:spPr>
        <p:txBody>
          <a:bodyPr wrap="square">
            <a:spAutoFit/>
          </a:bodyPr>
          <a:lstStyle/>
          <a:p>
            <a:pPr algn="ctr">
              <a:defRPr sz="1800" b="0">
                <a:solidFill>
                  <a:srgbClr val="000000"/>
                </a:solidFill>
              </a:defRPr>
            </a:pPr>
            <a: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Impact: Qui peut bénéficier ?</a:t>
            </a:r>
          </a:p>
        </p:txBody>
      </p:sp>
      <p:sp>
        <p:nvSpPr>
          <p:cNvPr id="3" name="Rounded Rectangle 2"/>
          <p:cNvSpPr/>
          <p:nvPr/>
        </p:nvSpPr>
        <p:spPr>
          <a:xfrm>
            <a:off x="1371600" y="2286000"/>
            <a:ext cx="201168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Entreprises</a:t>
            </a:r>
            <a:br/>
            <a:br/>
            <a:r>
              <a:t>PME africaines</a:t>
            </a:r>
            <a:br/>
            <a:r>
              <a:t>Équipes distribuées</a:t>
            </a:r>
          </a:p>
        </p:txBody>
      </p:sp>
      <p:sp>
        <p:nvSpPr>
          <p:cNvPr id="4" name="Rounded Rectangle 3"/>
          <p:cNvSpPr/>
          <p:nvPr/>
        </p:nvSpPr>
        <p:spPr>
          <a:xfrm>
            <a:off x="3657600" y="2286000"/>
            <a:ext cx="201168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Universités</a:t>
            </a:r>
            <a:br/>
            <a:br/>
            <a:r>
              <a:t>Projets étudiants</a:t>
            </a:r>
            <a:br/>
            <a:r>
              <a:t>Recherche collaborative</a:t>
            </a:r>
          </a:p>
        </p:txBody>
      </p:sp>
      <p:sp>
        <p:nvSpPr>
          <p:cNvPr id="5" name="Rounded Rectangle 4"/>
          <p:cNvSpPr/>
          <p:nvPr/>
        </p:nvSpPr>
        <p:spPr>
          <a:xfrm>
            <a:off x="5943600" y="2286000"/>
            <a:ext cx="2011680" cy="1371600"/>
          </a:xfrm>
          <a:prstGeom prst="roundRect">
            <a:avLst/>
          </a:prstGeom>
          <a:solidFill>
            <a:srgbClr val="4EA8FF"/>
          </a:solidFill>
          <a:ln>
            <a:solidFill>
              <a:srgbClr val="4EA8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43CE"/>
                </a:solidFill>
              </a:defRPr>
            </a:pPr>
            <a:r>
              <a:t>🚀 Startups</a:t>
            </a:r>
            <a:br/>
            <a:br/>
            <a:r>
              <a:t>Équipes agiles</a:t>
            </a:r>
            <a:br/>
            <a:r>
              <a:t>Ressources limitées</a:t>
            </a:r>
          </a:p>
        </p:txBody>
      </p:sp>
      <p:sp>
        <p:nvSpPr>
          <p:cNvPr id="6" name="TextBox 5"/>
          <p:cNvSpPr txBox="1"/>
          <p:nvPr/>
        </p:nvSpPr>
        <p:spPr>
          <a:xfrm>
            <a:off x="914400" y="4114800"/>
            <a:ext cx="7315200" cy="914400"/>
          </a:xfrm>
          <a:prstGeom prst="rect">
            <a:avLst/>
          </a:prstGeom>
          <a:noFill/>
        </p:spPr>
        <p:txBody>
          <a:bodyPr wrap="square">
            <a:spAutoFit/>
          </a:bodyPr>
          <a:lstStyle/>
          <a:p>
            <a:pPr algn="ctr">
              <a:defRPr sz="2400" b="1">
                <a:solidFill>
                  <a:srgbClr val="0F62FE"/>
                </a:solidFill>
              </a:defRPr>
            </a:pPr>
            <a:r>
              <a:t>Vision: Faire de l'Afrique un leader de l'IA appliquée à la gestion</a:t>
            </a:r>
          </a:p>
        </p:txBody>
      </p:sp>
      <p:sp>
        <p:nvSpPr>
          <p:cNvPr id="7" name="TextBox 6"/>
          <p:cNvSpPr txBox="1"/>
          <p:nvPr/>
        </p:nvSpPr>
        <p:spPr>
          <a:xfrm>
            <a:off x="914400" y="5212080"/>
            <a:ext cx="7315200" cy="548640"/>
          </a:xfrm>
          <a:prstGeom prst="rect">
            <a:avLst/>
          </a:prstGeom>
          <a:noFill/>
        </p:spPr>
        <p:txBody>
          <a:bodyPr wrap="square">
            <a:spAutoFit/>
          </a:bodyPr>
          <a:lstStyle/>
          <a:p>
            <a:pPr algn="ctr">
              <a:defRPr sz="1800" b="0">
                <a:solidFill>
                  <a:srgbClr val="525F6B"/>
                </a:solidFill>
              </a:defRPr>
            </a:pPr>
            <a:r>
              <a:t>📊 Objectif: -30% de retards • +40% de productivité • -50% de burnout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Roadmap: Aujourd'hui et Demain</a:t>
            </a:r>
          </a:p>
        </p:txBody>
      </p:sp>
      <p:sp>
        <p:nvSpPr>
          <p:cNvPr id="3" name="TextBox 2"/>
          <p:cNvSpPr txBox="1"/>
          <p:nvPr/>
        </p:nvSpPr>
        <p:spPr>
          <a:xfrm>
            <a:off x="914400" y="1828800"/>
            <a:ext cx="3657600" cy="548640"/>
          </a:xfrm>
          <a:prstGeom prst="rect">
            <a:avLst/>
          </a:prstGeom>
          <a:noFill/>
        </p:spPr>
        <p:txBody>
          <a:bodyPr wrap="square">
            <a:spAutoFit/>
          </a:bodyPr>
          <a:lstStyle/>
          <a:p>
            <a:pPr algn="ctr">
              <a:defRPr sz="2200" b="1">
                <a:solidFill>
                  <a:srgbClr val="0F62FE"/>
                </a:solidFill>
              </a:defRPr>
            </a:pPr>
            <a:r>
              <a:t>✅ VERSION ACTUELLE (MVP)</a:t>
            </a:r>
          </a:p>
        </p:txBody>
      </p:sp>
      <p:sp>
        <p:nvSpPr>
          <p:cNvPr id="4" name="TextBox 3"/>
          <p:cNvSpPr txBox="1"/>
          <p:nvPr/>
        </p:nvSpPr>
        <p:spPr>
          <a:xfrm>
            <a:off x="1097280" y="2560320"/>
            <a:ext cx="3200400" cy="2286000"/>
          </a:xfrm>
          <a:prstGeom prst="rect">
            <a:avLst/>
          </a:prstGeom>
          <a:noFill/>
        </p:spPr>
        <p:txBody>
          <a:bodyPr wrap="square">
            <a:spAutoFit/>
          </a:bodyPr>
          <a:lstStyle/>
          <a:p>
            <a:pPr>
              <a:spcAft>
                <a:spcPts val="1200"/>
              </a:spcAft>
              <a:defRPr sz="1600">
                <a:solidFill>
                  <a:srgbClr val="525F6B"/>
                </a:solidFill>
              </a:defRPr>
            </a:pPr>
            <a:r>
              <a:t>✓ Gestion complète projet/équipe/tâche</a:t>
            </a:r>
          </a:p>
          <a:p>
            <a:pPr>
              <a:spcAft>
                <a:spcPts val="1200"/>
              </a:spcAft>
              <a:defRPr sz="1600">
                <a:solidFill>
                  <a:srgbClr val="525F6B"/>
                </a:solidFill>
              </a:defRPr>
            </a:pPr>
            <a:r>
              <a:t>✓ Calcul workload en temps réel</a:t>
            </a:r>
          </a:p>
          <a:p>
            <a:pPr>
              <a:spcAft>
                <a:spcPts val="1200"/>
              </a:spcAft>
              <a:defRPr sz="1600">
                <a:solidFill>
                  <a:srgbClr val="525F6B"/>
                </a:solidFill>
              </a:defRPr>
            </a:pPr>
            <a:r>
              <a:t>✓ Score de risque composite</a:t>
            </a:r>
          </a:p>
          <a:p>
            <a:pPr>
              <a:spcAft>
                <a:spcPts val="1200"/>
              </a:spcAft>
              <a:defRPr sz="1600">
                <a:solidFill>
                  <a:srgbClr val="525F6B"/>
                </a:solidFill>
              </a:defRPr>
            </a:pPr>
            <a:r>
              <a:t>✓ Recommandations IA (IBM Granite)</a:t>
            </a:r>
          </a:p>
          <a:p>
            <a:pPr>
              <a:spcAft>
                <a:spcPts val="1200"/>
              </a:spcAft>
              <a:defRPr sz="1600">
                <a:solidFill>
                  <a:srgbClr val="525F6B"/>
                </a:solidFill>
              </a:defRPr>
            </a:pPr>
            <a:r>
              <a:t>✓ Assistant conversationnel</a:t>
            </a:r>
          </a:p>
          <a:p>
            <a:pPr>
              <a:spcAft>
                <a:spcPts val="1200"/>
              </a:spcAft>
              <a:defRPr sz="1600">
                <a:solidFill>
                  <a:srgbClr val="525F6B"/>
                </a:solidFill>
              </a:defRPr>
            </a:pPr>
            <a:r>
              <a:t>✓ 222 tests automatisés</a:t>
            </a:r>
          </a:p>
        </p:txBody>
      </p:sp>
      <p:sp>
        <p:nvSpPr>
          <p:cNvPr id="5" name="TextBox 4"/>
          <p:cNvSpPr txBox="1"/>
          <p:nvPr/>
        </p:nvSpPr>
        <p:spPr>
          <a:xfrm>
            <a:off x="5029200" y="1828800"/>
            <a:ext cx="3657600" cy="548640"/>
          </a:xfrm>
          <a:prstGeom prst="rect">
            <a:avLst/>
          </a:prstGeom>
          <a:noFill/>
        </p:spPr>
        <p:txBody>
          <a:bodyPr wrap="square">
            <a:spAutoFit/>
          </a:bodyPr>
          <a:lstStyle/>
          <a:p>
            <a:pPr algn="ctr">
              <a:defRPr sz="2200" b="1">
                <a:solidFill>
                  <a:srgbClr val="0043CE"/>
                </a:solidFill>
              </a:defRPr>
            </a:pPr>
            <a:r>
              <a:t>🚀 VERSION FUTURE (Q3-Q4 2026)</a:t>
            </a:r>
          </a:p>
        </p:txBody>
      </p:sp>
      <p:sp>
        <p:nvSpPr>
          <p:cNvPr id="6" name="TextBox 5"/>
          <p:cNvSpPr txBox="1"/>
          <p:nvPr/>
        </p:nvSpPr>
        <p:spPr>
          <a:xfrm>
            <a:off x="5212080" y="2560320"/>
            <a:ext cx="3200400" cy="2286000"/>
          </a:xfrm>
          <a:prstGeom prst="rect">
            <a:avLst/>
          </a:prstGeom>
          <a:noFill/>
        </p:spPr>
        <p:txBody>
          <a:bodyPr wrap="square">
            <a:spAutoFit/>
          </a:bodyPr>
          <a:lstStyle/>
          <a:p>
            <a:pPr>
              <a:spcAft>
                <a:spcPts val="1200"/>
              </a:spcAft>
              <a:defRPr sz="1600">
                <a:solidFill>
                  <a:srgbClr val="525F6B"/>
                </a:solidFill>
              </a:defRPr>
            </a:pPr>
            <a:r>
              <a:t>📱 Application mobile (iOS/Android)</a:t>
            </a:r>
          </a:p>
          <a:p>
            <a:pPr>
              <a:spcAft>
                <a:spcPts val="1200"/>
              </a:spcAft>
              <a:defRPr sz="1600">
                <a:solidFill>
                  <a:srgbClr val="525F6B"/>
                </a:solidFill>
              </a:defRPr>
            </a:pPr>
            <a:r>
              <a:t>📈 Analytics avancées avec ML</a:t>
            </a:r>
          </a:p>
          <a:p>
            <a:pPr>
              <a:spcAft>
                <a:spcPts val="1200"/>
              </a:spcAft>
              <a:defRPr sz="1600">
                <a:solidFill>
                  <a:srgbClr val="525F6B"/>
                </a:solidFill>
              </a:defRPr>
            </a:pPr>
            <a:r>
              <a:t>🔮 Prédiction de vélocité par sprint</a:t>
            </a:r>
          </a:p>
          <a:p>
            <a:pPr>
              <a:spcAft>
                <a:spcPts val="1200"/>
              </a:spcAft>
              <a:defRPr sz="1600">
                <a:solidFill>
                  <a:srgbClr val="525F6B"/>
                </a:solidFill>
              </a:defRPr>
            </a:pPr>
            <a:r>
              <a:t>🌍 Support multilingue complet</a:t>
            </a:r>
          </a:p>
          <a:p>
            <a:pPr>
              <a:spcAft>
                <a:spcPts val="1200"/>
              </a:spcAft>
              <a:defRPr sz="1600">
                <a:solidFill>
                  <a:srgbClr val="525F6B"/>
                </a:solidFill>
              </a:defRPr>
            </a:pPr>
            <a:r>
              <a:t>🔗 Intégrations (Slack, Teams, GitHub)</a:t>
            </a:r>
          </a:p>
          <a:p>
            <a:pPr>
              <a:spcAft>
                <a:spcPts val="1200"/>
              </a:spcAft>
              <a:defRPr sz="1600">
                <a:solidFill>
                  <a:srgbClr val="525F6B"/>
                </a:solidFill>
              </a:defRPr>
            </a:pPr>
            <a:r>
              <a:t>🤖 Auto-réassignation intelligente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Démonstration Live</a:t>
            </a:r>
          </a:p>
        </p:txBody>
      </p:sp>
      <p:sp>
        <p:nvSpPr>
          <p:cNvPr id="3" name="TextBox 2"/>
          <p:cNvSpPr txBox="1"/>
          <p:nvPr/>
        </p:nvSpPr>
        <p:spPr>
          <a:xfrm>
            <a:off x="914400" y="2286000"/>
            <a:ext cx="7315200" cy="914400"/>
          </a:xfrm>
          <a:prstGeom prst="rect">
            <a:avLst/>
          </a:prstGeom>
          <a:noFill/>
        </p:spPr>
        <p:txBody>
          <a:bodyPr wrap="square">
            <a:spAutoFit/>
          </a:bodyPr>
          <a:lstStyle/>
          <a:p>
            <a:pPr algn="ctr">
              <a:defRPr sz="3600" b="1">
                <a:solidFill>
                  <a:srgbClr val="0F62FE"/>
                </a:solidFill>
              </a:defRPr>
            </a:pPr>
            <a:r>
              <a:t>Voyons TeamPilot AI en action</a:t>
            </a:r>
          </a:p>
        </p:txBody>
      </p:sp>
      <p:sp>
        <p:nvSpPr>
          <p:cNvPr id="4" name="TextBox 3"/>
          <p:cNvSpPr txBox="1"/>
          <p:nvPr/>
        </p:nvSpPr>
        <p:spPr>
          <a:xfrm>
            <a:off x="1371600" y="3474720"/>
            <a:ext cx="6400800" cy="2743200"/>
          </a:xfrm>
          <a:prstGeom prst="rect">
            <a:avLst/>
          </a:prstGeom>
          <a:noFill/>
        </p:spPr>
        <p:txBody>
          <a:bodyPr wrap="square">
            <a:spAutoFit/>
          </a:bodyPr>
          <a:lstStyle/>
          <a:p>
            <a:pPr>
              <a:spcAft>
                <a:spcPts val="1200"/>
              </a:spcAft>
              <a:defRPr sz="2000">
                <a:solidFill>
                  <a:srgbClr val="525F6B"/>
                </a:solidFill>
              </a:defRPr>
            </a:pPr>
            <a:r>
              <a:t>1. Login en tant que Project Manager (demo_alice.pm)</a:t>
            </a:r>
          </a:p>
          <a:p>
            <a:pPr>
              <a:spcAft>
                <a:spcPts val="1200"/>
              </a:spcAft>
              <a:defRPr sz="2000">
                <a:solidFill>
                  <a:srgbClr val="525F6B"/>
                </a:solidFill>
              </a:defRPr>
            </a:pPr>
            <a:r>
              <a:t>2. Dashboard: Voir le projet CRM en risque CRITIQUE (85.2%)</a:t>
            </a:r>
          </a:p>
          <a:p>
            <a:pPr>
              <a:spcAft>
                <a:spcPts val="1200"/>
              </a:spcAft>
              <a:defRPr sz="2000">
                <a:solidFill>
                  <a:srgbClr val="525F6B"/>
                </a:solidFill>
              </a:defRPr>
            </a:pPr>
            <a:r>
              <a:t>3. Recommandations IA: Lire la justification IBM Granite</a:t>
            </a:r>
          </a:p>
          <a:p>
            <a:pPr>
              <a:spcAft>
                <a:spcPts val="1200"/>
              </a:spcAft>
              <a:defRPr sz="2000">
                <a:solidFill>
                  <a:srgbClr val="525F6B"/>
                </a:solidFill>
              </a:defRPr>
            </a:pPr>
            <a:r>
              <a:t>4. Accepter une recommandation: Réassignation automatique</a:t>
            </a:r>
          </a:p>
          <a:p>
            <a:pPr>
              <a:spcAft>
                <a:spcPts val="1200"/>
              </a:spcAft>
              <a:defRPr sz="2000">
                <a:solidFill>
                  <a:srgbClr val="525F6B"/>
                </a:solidFill>
              </a:defRPr>
            </a:pPr>
            <a:r>
              <a:t>5. Chat Assistant: 'Qui est surchargé dans mon équipe ?'</a:t>
            </a:r>
          </a:p>
          <a:p>
            <a:pPr>
              <a:spcAft>
                <a:spcPts val="1200"/>
              </a:spcAft>
              <a:defRPr sz="2000">
                <a:solidFill>
                  <a:srgbClr val="525F6B"/>
                </a:solidFill>
              </a:defRPr>
            </a:pPr>
            <a:r>
              <a:t>6. Vérification: Voir les workloads mis à jour en temps réel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11887200" cy="7358292"/>
          </a:xfrm>
          <a:prstGeom prst="rect">
            <a:avLst/>
          </a:prstGeom>
          <a:solidFill>
            <a:srgbClr val="4E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731520"/>
          </a:xfrm>
          <a:prstGeom prst="rect">
            <a:avLst/>
          </a:prstGeom>
          <a:noFill/>
        </p:spPr>
        <p:txBody>
          <a:bodyPr wrap="none">
            <a:spAutoFit/>
          </a:bodyPr>
          <a:lstStyle/>
          <a:p>
            <a:pPr algn="l">
              <a:defRPr sz="4400" b="1">
                <a:solidFill>
                  <a:srgbClr val="0F62FE"/>
                </a:solidFill>
              </a:defRPr>
            </a:pPr>
            <a:r>
              <a:t>TeamPilot AI: L'avenir de la gestion d'équipe</a:t>
            </a:r>
          </a:p>
        </p:txBody>
      </p:sp>
      <p:sp>
        <p:nvSpPr>
          <p:cNvPr id="4" name="TextBox 3"/>
          <p:cNvSpPr txBox="1"/>
          <p:nvPr/>
        </p:nvSpPr>
        <p:spPr>
          <a:xfrm>
            <a:off x="914400" y="2286000"/>
            <a:ext cx="7315200" cy="548640"/>
          </a:xfrm>
          <a:prstGeom prst="rect">
            <a:avLst/>
          </a:prstGeom>
          <a:noFill/>
        </p:spPr>
        <p:txBody>
          <a:bodyPr wrap="square">
            <a:spAutoFit/>
          </a:bodyPr>
          <a:lstStyle/>
          <a:p>
            <a:pPr algn="ctr">
              <a:defRPr sz="3200" b="1">
                <a:solidFill>
                  <a:srgbClr val="0043CE"/>
                </a:solidFill>
              </a:defRPr>
            </a:pPr>
            <a:r>
              <a:t>L'IA propose. L'humain décide.</a:t>
            </a:r>
          </a:p>
        </p:txBody>
      </p:sp>
      <p:sp>
        <p:nvSpPr>
          <p:cNvPr id="5" name="TextBox 4"/>
          <p:cNvSpPr txBox="1"/>
          <p:nvPr/>
        </p:nvSpPr>
        <p:spPr>
          <a:xfrm>
            <a:off x="1828800" y="3200400"/>
            <a:ext cx="5486400" cy="1371600"/>
          </a:xfrm>
          <a:prstGeom prst="rect">
            <a:avLst/>
          </a:prstGeom>
          <a:noFill/>
        </p:spPr>
        <p:txBody>
          <a:bodyPr wrap="square">
            <a:spAutoFit/>
          </a:bodyPr>
          <a:lstStyle/>
          <a:p>
            <a:pPr>
              <a:spcAft>
                <a:spcPts val="1200"/>
              </a:spcAft>
              <a:defRPr sz="2200">
                <a:solidFill>
                  <a:srgbClr val="525F6B"/>
                </a:solidFill>
              </a:defRPr>
            </a:pPr>
            <a:r>
              <a:t>✓ Détection prédictive des crises projet</a:t>
            </a:r>
          </a:p>
          <a:p>
            <a:pPr>
              <a:spcAft>
                <a:spcPts val="1200"/>
              </a:spcAft>
              <a:defRPr sz="2200">
                <a:solidFill>
                  <a:srgbClr val="525F6B"/>
                </a:solidFill>
              </a:defRPr>
            </a:pPr>
            <a:r>
              <a:t>✓ IBM Granite pour des décisions data-driven</a:t>
            </a:r>
          </a:p>
          <a:p>
            <a:pPr>
              <a:spcAft>
                <a:spcPts val="1200"/>
              </a:spcAft>
              <a:defRPr sz="2200">
                <a:solidFill>
                  <a:srgbClr val="525F6B"/>
                </a:solidFill>
              </a:defRPr>
            </a:pPr>
            <a:r>
              <a:t>✓ Conçu pour l'Afrique, utilisable partout</a:t>
            </a:r>
          </a:p>
        </p:txBody>
      </p:sp>
      <p:sp>
        <p:nvSpPr>
          <p:cNvPr id="6" name="TextBox 5"/>
          <p:cNvSpPr txBox="1"/>
          <p:nvPr/>
        </p:nvSpPr>
        <p:spPr>
          <a:xfrm>
            <a:off x="914400" y="4754880"/>
            <a:ext cx="7315200" cy="457200"/>
          </a:xfrm>
          <a:prstGeom prst="rect">
            <a:avLst/>
          </a:prstGeom>
          <a:noFill/>
        </p:spPr>
        <p:txBody>
          <a:bodyPr wrap="square">
            <a:spAutoFit/>
          </a:bodyPr>
          <a:lstStyle/>
          <a:p>
            <a:pPr algn="ctr">
              <a:defRPr sz="2400" b="1">
                <a:solidFill>
                  <a:srgbClr val="0043CE"/>
                </a:solidFill>
              </a:defRPr>
            </a:pPr>
            <a:r>
              <a:t>Merci à l'ULBU et à tous les participants</a:t>
            </a:r>
          </a:p>
        </p:txBody>
      </p:sp>
      <p:sp>
        <p:nvSpPr>
          <p:cNvPr id="7" name="TextBox 6"/>
          <p:cNvSpPr txBox="1"/>
          <p:nvPr/>
        </p:nvSpPr>
        <p:spPr>
          <a:xfrm>
            <a:off x="914400" y="5486400"/>
            <a:ext cx="7315200" cy="365760"/>
          </a:xfrm>
          <a:prstGeom prst="rect">
            <a:avLst/>
          </a:prstGeom>
          <a:noFill/>
        </p:spPr>
        <p:txBody>
          <a:bodyPr wrap="square">
            <a:spAutoFit/>
          </a:bodyPr>
          <a:lstStyle/>
          <a:p>
            <a:pPr algn="ctr">
              <a:defRPr sz="1800" b="0">
                <a:solidFill>
                  <a:srgbClr val="525F6B"/>
                </a:solidFill>
              </a:defRPr>
            </a:pPr>
            <a:r>
              <a:t>📧 Contact: dieudo.tshibangu@teampilot.ai</a:t>
            </a:r>
          </a:p>
        </p:txBody>
      </p:sp>
      <p:sp>
        <p:nvSpPr>
          <p:cNvPr id="8" name="TextBox 7"/>
          <p:cNvSpPr txBox="1"/>
          <p:nvPr/>
        </p:nvSpPr>
        <p:spPr>
          <a:xfrm>
            <a:off x="914400" y="6035040"/>
            <a:ext cx="7315200" cy="457200"/>
          </a:xfrm>
          <a:prstGeom prst="rect">
            <a:avLst/>
          </a:prstGeom>
          <a:noFill/>
        </p:spPr>
        <p:txBody>
          <a:bodyPr wrap="square">
            <a:spAutoFit/>
          </a:bodyPr>
          <a:lstStyle/>
          <a:p>
            <a:pPr algn="ctr">
              <a:defRPr sz="3200" b="1">
                <a:solidFill>
                  <a:srgbClr val="FFFFFF"/>
                </a:solidFill>
              </a:defRPr>
            </a:pPr>
            <a:r>
              <a:t>❓ VOS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3256</Words>
  <Application>Microsoft Office PowerPoint</Application>
  <PresentationFormat>Affichage à l'écran (4:3)</PresentationFormat>
  <Paragraphs>420</Paragraphs>
  <Slides>15</Slides>
  <Notes>15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15</vt:i4>
      </vt:variant>
    </vt:vector>
  </HeadingPairs>
  <TitlesOfParts>
    <vt:vector size="1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Dieudo Tshibangu</cp:lastModifiedBy>
  <cp:revision>2</cp:revision>
  <dcterms:created xsi:type="dcterms:W3CDTF">2013-01-27T09:14:16Z</dcterms:created>
  <dcterms:modified xsi:type="dcterms:W3CDTF">2026-07-29T17:26:11Z</dcterms:modified>
  <cp:category/>
</cp:coreProperties>
</file>